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64592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4572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0" y="457200"/>
            <a:ext cx="164592" cy="128016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457200"/>
            <a:ext cx="164592" cy="128016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9920" y="457200"/>
            <a:ext cx="164592" cy="128016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64240" y="457200"/>
            <a:ext cx="164592" cy="128016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PIT SJC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PIT Global Fellows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1371600" cy="73152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Programa de Embaixadores em Inovação e Internacionalização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2286000" cy="457200"/>
          </a:xfrm>
          <a:prstGeom prst="round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PIT SJC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O que é o PIT Global Fellows?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Visão Geral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D1A8D"/>
                </a:solidFill>
                <a:latin typeface="Calibri"/>
              </a:rPr>
              <a:t>•  </a:t>
            </a:r>
            <a:r>
              <a:rPr sz="2000">
                <a:solidFill>
                  <a:srgbClr val="5C5755"/>
                </a:solidFill>
                <a:latin typeface="Calibri"/>
              </a:rPr>
              <a:t>Programa estruturado de formação, atuação prática e networking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BD1A8D"/>
                </a:solidFill>
                <a:latin typeface="Calibri"/>
              </a:rPr>
              <a:t>•  </a:t>
            </a:r>
            <a:r>
              <a:rPr sz="2000">
                <a:solidFill>
                  <a:srgbClr val="5C5755"/>
                </a:solidFill>
                <a:latin typeface="Calibri"/>
              </a:rPr>
              <a:t>Conecta universitários do Vale do Paraíba ao ecossistema do PIT SJC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BD1A8D"/>
                </a:solidFill>
                <a:latin typeface="Calibri"/>
              </a:rPr>
              <a:t>•  </a:t>
            </a:r>
            <a:r>
              <a:rPr sz="2000">
                <a:solidFill>
                  <a:srgbClr val="5C5755"/>
                </a:solidFill>
                <a:latin typeface="Calibri"/>
              </a:rPr>
              <a:t>Não é voluntariado operacional — é desenvolvimento real com impacto mensurável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BD1A8D"/>
                </a:solidFill>
                <a:latin typeface="Calibri"/>
              </a:rPr>
              <a:t>•  </a:t>
            </a:r>
            <a:r>
              <a:rPr sz="2000">
                <a:solidFill>
                  <a:srgbClr val="5C5755"/>
                </a:solidFill>
                <a:latin typeface="Calibri"/>
              </a:rPr>
              <a:t>Exposição direta a delegações, startups e parceiros internacionais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Dois problemas. Uma solução.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O problema que resolvemos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486400" cy="420624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09728" cy="420624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D1A8D"/>
                </a:solidFill>
                <a:latin typeface="Calibri"/>
              </a:rPr>
              <a:t>Para o PIT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D1A8D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Equipe de 3 pessoas com demanda crescente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BD1A8D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Visitas e eventos internacionais sem cobertura adequada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BD1A8D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Trabalho estratégico comprometido por demandas operacionais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965960"/>
            <a:ext cx="5486400" cy="420624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965960"/>
            <a:ext cx="109728" cy="420624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7021"/>
                </a:solidFill>
                <a:latin typeface="Calibri"/>
              </a:rPr>
              <a:t>Para os Estudantes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37021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Ausência de espaços reais de prática em internacionalização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37021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Programas existentes são simulação, não contato direto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37021"/>
                </a:solidFill>
                <a:latin typeface="Calibri"/>
              </a:rPr>
              <a:t>•  </a:t>
            </a:r>
            <a:r>
              <a:rPr sz="1500">
                <a:solidFill>
                  <a:srgbClr val="5C5755"/>
                </a:solidFill>
                <a:latin typeface="Calibri"/>
              </a:rPr>
              <a:t>Dificuldade de construir portfólio relevante ainda na graduação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Quem são os Fellows?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Público-alvo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5088C7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Estudantes universitários a partir do 2º semestre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5088C7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Cursos: RI, Administração, Engenharias, Comunicação, TI, Inovação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5088C7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Universidades: UNIFESP SJC, ITA, UNESP, UFABC, INATEL, Fatec SJC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5088C7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Perfil: curioso, proativo, interesse em inovação e mundo internacional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5088C7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Inglês intermediário ou avançado (desejável)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O que o Fellow ganha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Proposta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Contato real com delegações e profissionais internacionais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Certificado institucional do PIT SJC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Mentoria com profissionais do ecossistema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Acesso a eventos e missões normalmente fechados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Portfólio real: relatórios, eventos, conteúdos publicados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Networking com empresas dos clusters do parque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8CB129"/>
                </a:solidFill>
                <a:latin typeface="Calibri"/>
              </a:rPr>
              <a:t>•  </a:t>
            </a:r>
            <a:r>
              <a:rPr sz="1700">
                <a:solidFill>
                  <a:srgbClr val="5C5755"/>
                </a:solidFill>
                <a:latin typeface="Calibri"/>
              </a:rPr>
              <a:t>Prática de inglês e espanhol em contexto profissional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Como o programa se organiza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Estrutura: os 4 núcleos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999" y="2194560"/>
            <a:ext cx="2697480" cy="38404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999" y="2194560"/>
            <a:ext cx="2697480" cy="54864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2599" y="3017520"/>
            <a:ext cx="640080" cy="640080"/>
          </a:xfrm>
          <a:prstGeom prst="ellipse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38404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D1A8D"/>
                </a:solidFill>
                <a:latin typeface="Calibri"/>
              </a:rPr>
              <a:t>Eventos &amp; Protocolo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599" y="46634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5755"/>
                </a:solidFill>
                <a:latin typeface="Calibri"/>
              </a:rPr>
              <a:t>Apoio a visitas, delegações e eventos internacionais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6071" y="2194560"/>
            <a:ext cx="2697480" cy="38404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6071" y="2194560"/>
            <a:ext cx="2697480" cy="54864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4671" y="3017520"/>
            <a:ext cx="640080" cy="640080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4671" y="38404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7021"/>
                </a:solidFill>
                <a:latin typeface="Calibri"/>
              </a:rPr>
              <a:t>Conteúdo &amp; Comunicação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4671" y="46634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5755"/>
                </a:solidFill>
                <a:latin typeface="Calibri"/>
              </a:rPr>
              <a:t>Newsletter, artigos, redes sociais, relatórios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2194560"/>
            <a:ext cx="2697480" cy="38404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8143" y="2194560"/>
            <a:ext cx="2697480" cy="548640"/>
          </a:xfrm>
          <a:prstGeom prst="rect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6743" y="3017520"/>
            <a:ext cx="640080" cy="640080"/>
          </a:xfrm>
          <a:prstGeom prst="ellipse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38404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088C7"/>
                </a:solidFill>
                <a:latin typeface="Calibri"/>
              </a:rPr>
              <a:t>Relações Universitárias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46634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5755"/>
                </a:solidFill>
                <a:latin typeface="Calibri"/>
              </a:rPr>
              <a:t>Articulação com IES, recrutamento de turmas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0215" y="2194560"/>
            <a:ext cx="2697480" cy="38404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215" y="2194560"/>
            <a:ext cx="2697480" cy="54864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8815" y="3017520"/>
            <a:ext cx="640080" cy="640080"/>
          </a:xfrm>
          <a:prstGeom prst="ellipse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8815" y="38404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CB129"/>
                </a:solidFill>
                <a:latin typeface="Calibri"/>
              </a:rPr>
              <a:t>Inteligência &amp; Inovação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8815" y="46634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5755"/>
                </a:solidFill>
                <a:latin typeface="Calibri"/>
              </a:rPr>
              <a:t>Tendências globais, benchmarkings, análises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Do processo seletivo ao alumni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Jornada do Fellow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72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727" y="2743200"/>
            <a:ext cx="1691640" cy="45720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72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Inscrição
&amp; Seleção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55367" y="3474720"/>
            <a:ext cx="182880" cy="548640"/>
          </a:xfrm>
          <a:prstGeom prst="rightArrow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24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247" y="2743200"/>
            <a:ext cx="1691640" cy="45720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824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968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Onboarding
&amp; Imersão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29887" y="3474720"/>
            <a:ext cx="182880" cy="548640"/>
          </a:xfrm>
          <a:prstGeom prst="rightArrow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276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2767" y="2743200"/>
            <a:ext cx="1691640" cy="45720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276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420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Atuação
por Núcleo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04407" y="3474720"/>
            <a:ext cx="182880" cy="548640"/>
          </a:xfrm>
          <a:prstGeom prst="rightArrow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743200"/>
            <a:ext cx="1691640" cy="45720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728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2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Avaliação
de Ciclo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78927" y="3474720"/>
            <a:ext cx="182880" cy="548640"/>
          </a:xfrm>
          <a:prstGeom prst="rightArrow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180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807" y="2743200"/>
            <a:ext cx="1691640" cy="4572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80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324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Certificação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53447" y="3474720"/>
            <a:ext cx="182880" cy="548640"/>
          </a:xfrm>
          <a:prstGeom prst="rightArrow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36327" y="2743200"/>
            <a:ext cx="1691640" cy="201168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36327" y="2743200"/>
            <a:ext cx="1691640" cy="45720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6327" y="2788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7767" y="3383280"/>
            <a:ext cx="1508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C5755"/>
                </a:solidFill>
                <a:latin typeface="Calibri"/>
              </a:rPr>
              <a:t>Alumni
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Estrutura leve e escalável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Governança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37021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1 Coordenador interno no PIT (~3-4h/semana)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37021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Fellows Líderes por núcleo (a partir do 2º ciclo)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37021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Reunião mensal de 1h com todos os fellows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37021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Ferramentas: Notion, WhatsApp/Slack, Google Forms, Canva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37021"/>
                </a:solidFill>
                <a:latin typeface="Calibri"/>
              </a:rPr>
              <a:t>•  </a:t>
            </a:r>
            <a:r>
              <a:rPr sz="1900">
                <a:solidFill>
                  <a:srgbClr val="5C5755"/>
                </a:solidFill>
                <a:latin typeface="Calibri"/>
              </a:rPr>
              <a:t>Carga dos fellows: 6 a 10 horas mensais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E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4E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Plano de implementação — Piloto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Roadmap do piloto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279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279" y="2103120"/>
            <a:ext cx="3657600" cy="100584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599" y="22128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Semanas 1–4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599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BD1A8D"/>
                </a:solidFill>
                <a:latin typeface="Calibri"/>
              </a:rPr>
              <a:t>Preparação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599" y="38862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D1A8D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Aprovação interna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D1A8D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Identidade visual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D1A8D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Contato com universidades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BD1A8D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Validação jurídica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47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2103120"/>
            <a:ext cx="3657600" cy="100584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22128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Semanas 5–8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37021"/>
                </a:solidFill>
                <a:latin typeface="Calibri"/>
              </a:rPr>
              <a:t>Seleção &amp;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38862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Inscrições abertas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Dinâmica em grupo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Seleção de 8–12 fellows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Onboarding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5815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5815" y="2103120"/>
            <a:ext cx="3657600" cy="100584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0135" y="22128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135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Semanas 9–24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135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8CB129"/>
                </a:solidFill>
                <a:latin typeface="Calibri"/>
              </a:rPr>
              <a:t>Operação &amp; Validação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135" y="38862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8CB129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Execução nos núcleos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8CB129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Primeiro evento real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8CB129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Avaliações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8CB129"/>
                </a:solidFill>
                <a:latin typeface="Calibri"/>
              </a:rPr>
              <a:t>•  </a:t>
            </a:r>
            <a:r>
              <a:rPr sz="1300">
                <a:solidFill>
                  <a:srgbClr val="5C5755"/>
                </a:solidFill>
                <a:latin typeface="Calibri"/>
              </a:rPr>
              <a:t>Ajustes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O que define o sucesso do piloto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10 fellows selecionados e ativos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2 núcleos operando (Eventos + Conteúdo)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1 evento ou visita internacional com participação dos fellows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1 ciclo completo de 6 meses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1 certificado emitido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8CB129"/>
                </a:solidFill>
                <a:latin typeface="Calibri"/>
              </a:rPr>
              <a:t>•  </a:t>
            </a:r>
            <a:r>
              <a:rPr sz="1800">
                <a:solidFill>
                  <a:srgbClr val="5C5755"/>
                </a:solidFill>
                <a:latin typeface="Calibri"/>
              </a:rPr>
              <a:t>1 relatório de impacto para a liderança do PIT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Como mediremos o sucesso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Indicadores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279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279" y="2103120"/>
            <a:ext cx="3657600" cy="73152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279" y="2240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30632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D1A8D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Nº de eventos cobertos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BD1A8D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Horas de suporte geradas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BD1A8D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Taxa de entrega por núcleo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2103120"/>
            <a:ext cx="3657600" cy="7315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047" y="2240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Experiência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367" y="30632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37021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Taxa de renovação dos fellows (meta: +70%)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37021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NPS do programa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37021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Posts orgânicos dos fellows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5815" y="2103120"/>
            <a:ext cx="3657600" cy="402336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5815" y="2103120"/>
            <a:ext cx="3657600" cy="73152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5815" y="2240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135" y="30632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8CB129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Universidades parceiras formalizadas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8CB129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Conteúdos produzidos e publicados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8CB129"/>
                </a:solidFill>
                <a:latin typeface="Calibri"/>
              </a:rPr>
              <a:t>•  </a:t>
            </a:r>
            <a:r>
              <a:rPr sz="1400">
                <a:solidFill>
                  <a:srgbClr val="5C5755"/>
                </a:solidFill>
                <a:latin typeface="Calibri"/>
              </a:rPr>
              <a:t>Alumni com oportunidades geradas pelo programa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755"/>
                </a:solidFill>
                <a:latin typeface="Calibri"/>
              </a:rPr>
              <a:t>PIT Global Fellows  ·  PIT SJC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" cy="50292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5C5755"/>
                </a:solidFill>
                <a:latin typeface="Calibri"/>
              </a:rPr>
              <a:t>O que fazer 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5B89"/>
                </a:solidFill>
                <a:latin typeface="Calibri"/>
              </a:rPr>
              <a:t>Próximos passos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74519"/>
            <a:ext cx="457200" cy="457200"/>
          </a:xfrm>
          <a:prstGeom prst="ellipse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Apresentar o conceito para a liderança do PIT e obter aprovação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441447"/>
            <a:ext cx="457200" cy="457200"/>
          </a:xfrm>
          <a:prstGeom prst="ellipse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41447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Definir nome final e criar identidade visual mínima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008375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5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Verificar aspectos jurídicos do termo de adesão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575303"/>
            <a:ext cx="457200" cy="457200"/>
          </a:xfrm>
          <a:prstGeom prst="ellipse">
            <a:avLst/>
          </a:prstGeom>
          <a:solidFill>
            <a:srgbClr val="50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75303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Mapear agenda internacional dos próximos 90 dias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42231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42231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Contactar 2-3 universidades para sondar parceria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709159"/>
            <a:ext cx="457200" cy="457200"/>
          </a:xfrm>
          <a:prstGeom prst="ellipse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091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Criar 1-pager e formulário de candidatura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276087"/>
            <a:ext cx="457200" cy="457200"/>
          </a:xfrm>
          <a:prstGeom prst="ellipse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76087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C5755"/>
                </a:solidFill>
                <a:latin typeface="Calibri"/>
              </a:rPr>
              <a:t>Abrir inscrições para o piloto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D1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64592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45720"/>
          </a:xfrm>
          <a:prstGeom prst="rect">
            <a:avLst/>
          </a:prstGeom>
          <a:solidFill>
            <a:srgbClr val="B89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64592" cy="1280160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57200"/>
            <a:ext cx="164592" cy="128016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457200"/>
            <a:ext cx="164592" cy="1280160"/>
          </a:xfrm>
          <a:prstGeom prst="rect">
            <a:avLst/>
          </a:prstGeom>
          <a:solidFill>
            <a:srgbClr val="8CB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457200"/>
            <a:ext cx="164592" cy="128016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PIT Global Fellows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371600" cy="73152"/>
          </a:xfrm>
          <a:prstGeom prst="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Inovação começa por quem vai transformar o mundo.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2286000" cy="457200"/>
          </a:xfrm>
          <a:prstGeom prst="roundRect">
            <a:avLst/>
          </a:prstGeom>
          <a:solidFill>
            <a:srgbClr val="ED0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PIT SJC —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