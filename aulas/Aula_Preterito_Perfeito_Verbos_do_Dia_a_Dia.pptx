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Apresente o tema: hoje o foco é USAR os verbos no passado, não estudar regras. Diga a meta: 15 verbos diferentes falando.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rapidamente os objetivos (1 min). Mostre o plano da aula embaixo para o aluno saber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Comece pelo Nível 1 e só suba quando as respostas saírem fáceis. Responda você também, rapidamente, para dar modelo ("Eu acordei às 6h, fiz café…"). Observe: ele responde com o verbo? Usa a forma do EU ou repete a forma da pergunta (trabalhou)?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Não explique regra longa. Mostre o contraste e as pistas de tempo — o aluno vai usar essas palavras para decidir presente × passado o resto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Este é o erro nº 1 da aula: responder "Sim, trabalhou". Leia os pares com o aluno (você pergunta, ele responde). Combine um gesto (polegar para trás) para 'passado' e outro para 'use eu'.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aluno escolher e justificar ("por causa de 'ontem'"). Não revele antes de ele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B) fiz. Reforce: 'ontem' = pista de passado. fazer é irregular — memorizar: faço → fiz.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 bank (irregulares 1/2). Leia só a forma do passado em voz alta, aluno repete 2x. Depois: você diz o infinitivo, ele diz o passado (sem olhar). Não demore: ~1,5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 bank (irregulares 2/2). Mesmo procedimento. Destaque o card amarelo: fui = ir e ser. Mencione que no dia a dia 'não consegui' e 'eu queria' também são muito usados, sem entrar no imperfeito.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Não leia a tabela inteira. Peça ao aluno para ler só a coluna 'Eu (passado)' em voz alta e escolher 2 exemplos que são verdade para ele ('Eu também dormi mal!').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Não leia a tabela inteira. Peça ao aluno para ler só a coluna 'Eu (passado)' em voz alta e escolher 2 exemplos que são verdade para ele ('Eu também dormi mal!').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Só os pontos que forem relevantes para o aluno. Pergunte: 'Quando você veio pro Brasil?' / 'Você conheceu alguém aqui?' para testar vim×fui e conheci×encontrei.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Ritmo rápido (quick fire). O aluno fala o infinitivo e o passado. Se travar, dê a primeira sílaba.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aluno diz o par em voz alta: '1 é C — fazer, fiz'. Peça uma frase rápida com 2 ou 3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no sentido: conheci × encontrei, fiquei (got), saí (left), vim (came), foi (was).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aluno dizer qual palavra da frase mostra o tempo (ontem, normalmente…).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Oral primeiro, depois o aluno pode escrever se quiser. Atenção à ortografia de cheguei e ao acento de saí.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aluno lê o texto do presente e fala a versão no passado sem escrever. Depois, peça para ele mudar detalhes para contar o ontem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Aceite variações naturais (fui na padaria, vi uma série). O importante é o verbo no passado.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aluno achar sozinho. Se travar, dê uma pista: 'o erro está no verbo 2'. O nº 2 é o erro mais comum da aula!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Produção livre. Peça frases VERDADEIRAS sobre a vida dele. Modelos nas teacher notes. Se sobrar tempo, peça duas frases por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 por slide. Depois de cada resposta, faça UM follow-up curto: Com quem? E depois? Gostou? Por quê? Não precisa fazer todas — se a conversa fluir, deixe fluir. Corrija com recast (repita a forma certa naturalmente).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 por slide. Depois de cada resposta, faça UM follow-up curto: Com quem? E depois? Gostou? Por quê? Não precisa fazer todas — se a conversa fluir, deixe fluir. Corrija com recast (repita a forma certa naturalmente).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O aluno pergunta, você responde DE VERDADE e com detalhes, usando de propósito fui, fiz, vi, tive, disse. Ele deve reagir e fazer 1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Modelos de pergunta — mostre só depois que o aluno tentou todas. Variações naturais são corretas (Aonde você foi…?).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aluno falar 1–2 min SEM interromper. Conte os verbos diferentes (meta 8+). Anote no máximo 3 erros para o final. Depois use as perguntas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4–6 perguntas conforme o que o aluno contou. Termine com o role-play: você é um amigo brasileiro ligando na segunda-feira.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30 s para o aluno olhar o cenário e depois ele conta a história. As perguntas são apoio — não precisa seguir a ordem. Se o aluno estiver avançado: peça para contar em 3ª pessoa (o Pedro…) ou inverta os papéis.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30 s para o aluno olhar o cenário e depois ele conta a história. As perguntas são apoio — não precisa seguir a ordem. Se o aluno estiver avançado: peça para contar em 3ª pessoa (o Pedro…) ou inverta os papéis.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30 s para o aluno olhar o cenário e depois ele conta a história. As perguntas são apoio — não precisa seguir a ordem. Se o aluno estiver avançado: peça para contar em 3ª pessoa (o Pedro…) ou inverta os papéis.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Você diz o infinitivo em ordem aleatória, o aluno responde. Repita os que ele errou.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as respostas. Peça ao aluno para ler as frases corrigidas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Depois do 3-2-1, apresente as 3 correções que você anotou durante a aula (no máximo 3!).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prazo e formato do áudio de WhatsApp. Peça que ele traga os 2 verbos que ouviu de um brasileiro — ótimo aquecimento para 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só para o professor. Use o modo apresentador ou pare de compartilhar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5852160" cy="5852160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41732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822960"/>
            <a:ext cx="3816706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822960"/>
            <a:ext cx="3816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BRASILEIRO · AULA DE 50 MIN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fez ontem?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do dia a dia no passado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verbs in the past · pretérito perfeito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967435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5532120"/>
            <a:ext cx="967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53235" y="5532120"/>
            <a:ext cx="967435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53235" y="5532120"/>
            <a:ext cx="967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57830" y="5532120"/>
            <a:ext cx="1091794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57830" y="5532120"/>
            <a:ext cx="1091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tive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986784" y="5532120"/>
            <a:ext cx="843077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86784" y="5532120"/>
            <a:ext cx="843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67021" y="5532120"/>
            <a:ext cx="967435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67021" y="5532120"/>
            <a:ext cx="967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71616" y="5532120"/>
            <a:ext cx="1216152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71616" y="553212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24928" y="5532120"/>
            <a:ext cx="967435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24928" y="5532120"/>
            <a:ext cx="967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529523" y="5532120"/>
            <a:ext cx="1091794" cy="457200"/>
          </a:xfrm>
          <a:prstGeom prst="roundRect">
            <a:avLst>
              <a:gd name="adj" fmla="val 50000"/>
            </a:avLst>
          </a:prstGeom>
          <a:solidFill>
            <a:srgbClr val="0F3D2E"/>
          </a:solidFill>
          <a:ln w="12700">
            <a:solidFill>
              <a:srgbClr val="5E8C7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29523" y="5532120"/>
            <a:ext cx="1091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· LESSON GOALS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você vai…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will…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658368" cy="658368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2182856"/>
            <a:ext cx="316017" cy="31601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2029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27 verbos do dia a dia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417320" y="23957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27 everyday verbs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2880360"/>
            <a:ext cx="658368" cy="658368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3051536"/>
            <a:ext cx="316017" cy="31601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2898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os verbos no passado</a:t>
            </a:r>
            <a:endParaRPr lang="en-US" sz="21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3264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in the past: eu fui, eu fiz, eu comi…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3920216"/>
            <a:ext cx="316017" cy="31601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17320" y="37673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e responder perguntas</a:t>
            </a:r>
            <a:endParaRPr lang="en-US" sz="2100" dirty="0"/>
          </a:p>
        </p:txBody>
      </p:sp>
      <p:sp>
        <p:nvSpPr>
          <p:cNvPr id="21" name="Text 14"/>
          <p:cNvSpPr txBox="1"/>
          <p:nvPr/>
        </p:nvSpPr>
        <p:spPr>
          <a:xfrm>
            <a:off x="1417320" y="41330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and answer questions about the past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4617720"/>
            <a:ext cx="658368" cy="658368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4788896"/>
            <a:ext cx="316017" cy="31601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1732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 que você fez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417320" y="50017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your day and your weekend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8001000" y="2011680"/>
            <a:ext cx="3642055" cy="3246120"/>
          </a:xfrm>
          <a:prstGeom prst="roundRect">
            <a:avLst>
              <a:gd name="adj" fmla="val 3380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321040" y="2286000"/>
            <a:ext cx="1484986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8321040" y="2286000"/>
            <a:ext cx="14849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DA AULA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832104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8000" dirty="0"/>
          </a:p>
        </p:txBody>
      </p:sp>
      <p:sp>
        <p:nvSpPr>
          <p:cNvPr id="30" name="Text 22"/>
          <p:cNvSpPr txBox="1"/>
          <p:nvPr/>
        </p:nvSpPr>
        <p:spPr>
          <a:xfrm>
            <a:off x="832104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diferentes no passado — falando, não só lendo!</a:t>
            </a:r>
            <a:endParaRPr lang="en-US" sz="1700" dirty="0"/>
          </a:p>
        </p:txBody>
      </p:sp>
      <p:sp>
        <p:nvSpPr>
          <p:cNvPr id="31" name="Shape 23"/>
          <p:cNvSpPr/>
          <p:nvPr/>
        </p:nvSpPr>
        <p:spPr>
          <a:xfrm>
            <a:off x="548640" y="5623560"/>
            <a:ext cx="2072579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32" name="Shape 24"/>
          <p:cNvSpPr/>
          <p:nvPr/>
        </p:nvSpPr>
        <p:spPr>
          <a:xfrm>
            <a:off x="658368" y="5715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658368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" y="5623560"/>
            <a:ext cx="143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 </a:t>
            </a:r>
            <a:pPr indent="0" marL="0">
              <a:buNone/>
            </a:pPr>
            <a:r>
              <a:rPr lang="en-US" sz="16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2804099" y="5623560"/>
            <a:ext cx="2072579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36" name="Shape 28"/>
          <p:cNvSpPr/>
          <p:nvPr/>
        </p:nvSpPr>
        <p:spPr>
          <a:xfrm>
            <a:off x="2913827" y="5715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2913827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3398459" y="5623560"/>
            <a:ext cx="143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 </a:t>
            </a:r>
            <a:pPr indent="0" marL="0">
              <a:buNone/>
            </a:pPr>
            <a:r>
              <a:rPr lang="en-US" sz="16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5059558" y="5623560"/>
            <a:ext cx="2072579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40" name="Shape 32"/>
          <p:cNvSpPr/>
          <p:nvPr/>
        </p:nvSpPr>
        <p:spPr>
          <a:xfrm>
            <a:off x="5169286" y="5715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5169286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653918" y="5623560"/>
            <a:ext cx="143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 </a:t>
            </a:r>
            <a:pPr indent="0" marL="0">
              <a:buNone/>
            </a:pPr>
            <a:r>
              <a:rPr lang="en-US" sz="16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7315017" y="5623560"/>
            <a:ext cx="2072579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44" name="Shape 36"/>
          <p:cNvSpPr/>
          <p:nvPr/>
        </p:nvSpPr>
        <p:spPr>
          <a:xfrm>
            <a:off x="7424745" y="5715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7424745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7909377" y="5623560"/>
            <a:ext cx="143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 </a:t>
            </a:r>
            <a:pPr indent="0" marL="0">
              <a:buNone/>
            </a:pPr>
            <a:r>
              <a:rPr lang="en-US" sz="16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9570476" y="5623560"/>
            <a:ext cx="2072579" cy="566928"/>
          </a:xfrm>
          <a:prstGeom prst="roundRect">
            <a:avLst>
              <a:gd name="adj" fmla="val 19355"/>
            </a:avLst>
          </a:prstGeom>
          <a:solidFill>
            <a:srgbClr val="FFF4D1"/>
          </a:solidFill>
          <a:ln/>
        </p:spPr>
      </p:sp>
      <p:sp>
        <p:nvSpPr>
          <p:cNvPr id="48" name="Shape 40"/>
          <p:cNvSpPr/>
          <p:nvPr/>
        </p:nvSpPr>
        <p:spPr>
          <a:xfrm>
            <a:off x="9680204" y="5715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9680204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10164836" y="5623560"/>
            <a:ext cx="14324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oral  </a:t>
            </a:r>
            <a:pPr indent="0" marL="0">
              <a:buNone/>
            </a:pPr>
            <a:r>
              <a:rPr lang="en-US" sz="16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10942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109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AQUECIMENTO · 5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ontem?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Answer quickly — short answers are OK!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2240280"/>
            <a:ext cx="1018642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2960" y="2240280"/>
            <a:ext cx="10186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978762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/ não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283464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trabalhou ontem?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saiu de casa ontem?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dormiu bem?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3F6F4"/>
          </a:solidFill>
          <a:ln/>
        </p:spPr>
      </p:sp>
      <p:sp>
        <p:nvSpPr>
          <p:cNvPr id="16" name="Shape 12"/>
          <p:cNvSpPr/>
          <p:nvPr/>
        </p:nvSpPr>
        <p:spPr>
          <a:xfrm>
            <a:off x="4612538" y="2240280"/>
            <a:ext cx="1018642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2538" y="2240280"/>
            <a:ext cx="10186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6834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283464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acordou hoje?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 no almoço ontem?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bebeu hoje de manhã?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127797" y="201168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FF4D1"/>
          </a:solidFill>
          <a:ln/>
        </p:spPr>
      </p:sp>
      <p:sp>
        <p:nvSpPr>
          <p:cNvPr id="21" name="Shape 17"/>
          <p:cNvSpPr/>
          <p:nvPr/>
        </p:nvSpPr>
        <p:spPr>
          <a:xfrm>
            <a:off x="8402117" y="2240280"/>
            <a:ext cx="1018642" cy="347472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402117" y="2240280"/>
            <a:ext cx="10186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557918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aberta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02117" y="283464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ontem à noite?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melhor parte do seu dia ontem?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E3F1EA"/>
          </a:solidFill>
          <a:ln/>
        </p:spPr>
      </p:sp>
      <p:sp>
        <p:nvSpPr>
          <p:cNvPr id="26" name="Shape 22"/>
          <p:cNvSpPr/>
          <p:nvPr/>
        </p:nvSpPr>
        <p:spPr>
          <a:xfrm>
            <a:off x="731520" y="56235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5766206"/>
            <a:ext cx="263347" cy="26334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463040" y="553212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com o verbo:   </a:t>
            </a:r>
            <a:pPr indent="0" marL="0">
              <a:buNone/>
            </a:pPr>
            <a:r>
              <a:rPr lang="en-US" sz="19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trabalhou ontem?  →  </a:t>
            </a:r>
            <a:pPr indent="0" marL="0">
              <a:buNone/>
            </a:pPr>
            <a:r>
              <a:rPr lang="en-US" sz="19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trabalhei.</a:t>
            </a:r>
            <a:pPr indent="0" marL="0">
              <a:buNone/>
            </a:pPr>
            <a:r>
              <a:rPr lang="en-US" sz="19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9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Não, não trabalhei.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7055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0705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 · QUICK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 × ontem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= habit · Past = finished action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2240280"/>
            <a:ext cx="1858061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68680" y="2240280"/>
            <a:ext cx="18580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· HABIT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 eu </a:t>
            </a:r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</a:t>
            </a:r>
            <a:pPr indent="0" marL="0">
              <a:buNone/>
            </a:pPr>
            <a:r>
              <a:rPr lang="en-US" sz="3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café.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657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 · sempre · normalmente · às vezes · aos sábados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568135" y="201168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88175" y="2240280"/>
            <a:ext cx="2044598" cy="347472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88175" y="2240280"/>
            <a:ext cx="20445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 · FINISHED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888175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3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</a:t>
            </a:r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café.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6888175" y="3657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· anteontem · no sábado · ontem à noite · semana passada · hoje de manhã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30088" y="2907792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3097987"/>
            <a:ext cx="351130" cy="35113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484632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" y="4983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-AR  →  eu </a:t>
            </a:r>
            <a:pPr indent="0" marL="0">
              <a:buNone/>
            </a:pPr>
            <a:r>
              <a:rPr lang="en-US" sz="24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-ei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4864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→ trabalhei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338218" y="484632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  →  eu </a:t>
            </a:r>
            <a:pPr indent="0" marL="0">
              <a:buNone/>
            </a:pPr>
            <a:r>
              <a:rPr lang="en-US" sz="24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4612538" y="54864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→ comi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127797" y="484632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402117" y="4983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5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  →  eu </a:t>
            </a:r>
            <a:pPr indent="0" marL="0">
              <a:buNone/>
            </a:pPr>
            <a:r>
              <a:rPr lang="en-US" sz="24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8402117" y="54864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→ dormi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7055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0705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 · QUICK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com você, resposta com eu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uses você… — your answer uses eu!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383280" cy="713232"/>
          </a:xfrm>
          <a:prstGeom prst="roundRect">
            <a:avLst>
              <a:gd name="adj" fmla="val 44872"/>
            </a:avLst>
          </a:prstGeom>
          <a:solidFill>
            <a:srgbClr val="F3F6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20116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trabalhou ontem?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231136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80560" y="2011680"/>
            <a:ext cx="3246120" cy="713232"/>
          </a:xfrm>
          <a:prstGeom prst="roundRect">
            <a:avLst>
              <a:gd name="adj" fmla="val 44872"/>
            </a:avLst>
          </a:prstGeom>
          <a:solidFill>
            <a:srgbClr val="1B7A5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709160" y="20116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trabalhei.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48640" y="2907792"/>
            <a:ext cx="3383280" cy="713232"/>
          </a:xfrm>
          <a:prstGeom prst="roundRect">
            <a:avLst>
              <a:gd name="adj" fmla="val 44872"/>
            </a:avLst>
          </a:prstGeom>
          <a:solidFill>
            <a:srgbClr val="F3F6F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77240" y="29077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comeu em casa?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127248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480560" y="2907792"/>
            <a:ext cx="3246120" cy="713232"/>
          </a:xfrm>
          <a:prstGeom prst="roundRect">
            <a:avLst>
              <a:gd name="adj" fmla="val 44872"/>
            </a:avLst>
          </a:prstGeom>
          <a:solidFill>
            <a:srgbClr val="1B7A55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709160" y="290779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Não, comi num restaurante.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3803904"/>
            <a:ext cx="3383280" cy="713232"/>
          </a:xfrm>
          <a:prstGeom prst="roundRect">
            <a:avLst>
              <a:gd name="adj" fmla="val 44872"/>
            </a:avLst>
          </a:prstGeom>
          <a:solidFill>
            <a:srgbClr val="F3F6F4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380390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saiu no sábado?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023360"/>
            <a:ext cx="274320" cy="27432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480560" y="3803904"/>
            <a:ext cx="3246120" cy="713232"/>
          </a:xfrm>
          <a:prstGeom prst="roundRect">
            <a:avLst>
              <a:gd name="adj" fmla="val 44872"/>
            </a:avLst>
          </a:prstGeom>
          <a:solidFill>
            <a:srgbClr val="1B7A55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709160" y="380390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Saí, sim!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548640" y="4700016"/>
            <a:ext cx="3383280" cy="713232"/>
          </a:xfrm>
          <a:prstGeom prst="roundRect">
            <a:avLst>
              <a:gd name="adj" fmla="val 44872"/>
            </a:avLst>
          </a:prstGeom>
          <a:solidFill>
            <a:srgbClr val="F3F6F4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77240" y="47000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fez o jantar?</a:t>
            </a:r>
            <a:endParaRPr lang="en-US" sz="1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919472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480560" y="4700016"/>
            <a:ext cx="3246120" cy="713232"/>
          </a:xfrm>
          <a:prstGeom prst="roundRect">
            <a:avLst>
              <a:gd name="adj" fmla="val 44872"/>
            </a:avLst>
          </a:prstGeom>
          <a:solidFill>
            <a:srgbClr val="1B7A5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4709160" y="470001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Fiz. Fiz um macarrão.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8229600" y="2011680"/>
            <a:ext cx="3413455" cy="3401568"/>
          </a:xfrm>
          <a:prstGeom prst="roundRect">
            <a:avLst>
              <a:gd name="adj" fmla="val 3226"/>
            </a:avLst>
          </a:prstGeom>
          <a:solidFill>
            <a:srgbClr val="FFF4D1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8503920" y="21945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Terminações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503920" y="2651760"/>
            <a:ext cx="28648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trabalhou · comeu · saiu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trabalhei · comi · saí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Irregulares: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foi · fez · teve · viu · veio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fui · fiz · tive · vi · vim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Você trabalhou? — Sim, trabalhou.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91717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91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RÁPIDO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forma certa?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correct?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645920" y="2057400"/>
            <a:ext cx="8899855" cy="1554480"/>
          </a:xfrm>
          <a:prstGeom prst="roundRect">
            <a:avLst>
              <a:gd name="adj" fmla="val 7059"/>
            </a:avLst>
          </a:prstGeom>
          <a:solidFill>
            <a:srgbClr val="F3F6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45920" y="2148840"/>
            <a:ext cx="8899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Ontem eu </a:t>
            </a:r>
            <a:pPr algn="ctr" indent="0" marL="0">
              <a:buNone/>
            </a:pPr>
            <a:r>
              <a:rPr lang="en-US" sz="4800" b="1" dirty="0">
                <a:solidFill>
                  <a:srgbClr val="5F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pPr algn="ctr" indent="0" marL="0">
              <a:buNone/>
            </a:pPr>
            <a:r>
              <a:rPr lang="en-US" sz="48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café.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3063240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 ___ coffee.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58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432408" y="4389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432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026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faço</a:t>
            </a:r>
            <a:endParaRPr lang="en-US" sz="3400" dirty="0"/>
          </a:p>
        </p:txBody>
      </p:sp>
      <p:sp>
        <p:nvSpPr>
          <p:cNvPr id="17" name="Shape 13"/>
          <p:cNvSpPr/>
          <p:nvPr/>
        </p:nvSpPr>
        <p:spPr>
          <a:xfrm>
            <a:off x="4587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61408" y="4389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861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55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8016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0408" y="4389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90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8884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91717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91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RÁPIDO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forma certa?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correct?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645920" y="2057400"/>
            <a:ext cx="8899855" cy="1554480"/>
          </a:xfrm>
          <a:prstGeom prst="roundRect">
            <a:avLst>
              <a:gd name="adj" fmla="val 7059"/>
            </a:avLst>
          </a:prstGeom>
          <a:solidFill>
            <a:srgbClr val="F3F6F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645920" y="2148840"/>
            <a:ext cx="8899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Ontem eu </a:t>
            </a:r>
            <a:pPr algn="ctr" indent="0" marL="0">
              <a:buNone/>
            </a:pPr>
            <a:r>
              <a:rPr lang="en-US" sz="48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fiz</a:t>
            </a:r>
            <a:pPr algn="ctr" indent="0" marL="0">
              <a:buNone/>
            </a:pPr>
            <a:r>
              <a:rPr lang="en-US" sz="48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café.</a:t>
            </a:r>
            <a:endParaRPr lang="en-US" sz="4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063240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 ___ coffee.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58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432408" y="4389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432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026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faço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4587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1B7A5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61408" y="43891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61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55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</a:t>
            </a:r>
            <a:endParaRPr lang="en-US" sz="3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248" y="4389120"/>
            <a:ext cx="365760" cy="3657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016088" y="39776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90408" y="4389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29040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884768" y="3977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3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→ eu faço (presente) → </a:t>
            </a:r>
            <a:pPr algn="ctr" indent="0" marL="0">
              <a:buNone/>
            </a:pPr>
            <a:r>
              <a:rPr lang="en-US" sz="20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fiz</a:t>
            </a:r>
            <a:pPr algn="ctr"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(passado)   ·   ontem = passado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0749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0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VERBOS · IRREGULARES 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irregulares superstars (1/2)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past forms — learn them by using them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2011680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/ to make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faço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fiz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 café de manhã.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12538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5801258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12538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vou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fui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 à padaria.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127797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402117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9590837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402117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tenho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tive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8402117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Tive uma reunião.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2296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2011680" y="440740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/ to watch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" y="486460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vejo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vi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" y="55321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um filme ótimo.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338218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4612538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5801258" y="440740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 (here)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612538" y="486460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venho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vim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4612538" y="55321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pro Brasil em março.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127797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8402117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endParaRPr lang="en-US" sz="2400" dirty="0"/>
          </a:p>
        </p:txBody>
      </p:sp>
      <p:sp>
        <p:nvSpPr>
          <p:cNvPr id="37" name="Text 33"/>
          <p:cNvSpPr txBox="1"/>
          <p:nvPr/>
        </p:nvSpPr>
        <p:spPr>
          <a:xfrm>
            <a:off x="9590837" y="440740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(description)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8402117" y="486460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sou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fui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8402117" y="55321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festa foi ótima!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0749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0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VERBOS · IRREGULARES 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irregulares superstars (2/2)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past forms — learn them by using them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2011680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(place / temporary)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estou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estive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Estive em Salvador.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12538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5801258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12538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dou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dei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um presente pra ela.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127797" y="201168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402117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9590837" y="221284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 / to tell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402117" y="26700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digo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disse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8402117" y="33375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 "obrigado".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2296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2011680" y="440740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to be able to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" y="486460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posso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pude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" y="55321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pude ir à festa.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338218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4612538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querer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5801258" y="4407408"/>
            <a:ext cx="177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want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612538" y="486460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quero  →  </a:t>
            </a:r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quis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4612538" y="55321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quis sair ontem.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127797" y="42062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4D1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402117" y="43891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</a:t>
            </a:r>
            <a:pPr indent="0" marL="0">
              <a:buNone/>
            </a:pPr>
            <a:r>
              <a:rPr lang="en-US" sz="28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ir + ser</a:t>
            </a:r>
            <a:endParaRPr lang="en-US" sz="2800" dirty="0"/>
          </a:p>
        </p:txBody>
      </p:sp>
      <p:sp>
        <p:nvSpPr>
          <p:cNvPr id="37" name="Text 33"/>
          <p:cNvSpPr txBox="1"/>
          <p:nvPr/>
        </p:nvSpPr>
        <p:spPr>
          <a:xfrm>
            <a:off x="8402117" y="50749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 ao mercado.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(ir)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festa foi ótima!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(ser)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VERBOS · REGULARES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· regular verbs — same pattern, easy to use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1691640"/>
                <a:gridCol w="1783080"/>
                <a:gridCol w="33649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Infinitivo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(presente)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(passado)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wake 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Acordei às 7h.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sleep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 mal essa noite.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Trabalhei de casa.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study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Estudei português à noite.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leave / to go 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 de casa às 8h.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arrive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cheguei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Cheguei em casa tarde.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come 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Voltei de Uber.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stay / to get (tired…)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fiquei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Fiquei em casa.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VERBOS · REGULARES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social e consumo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life &amp; shopping · regular verbs — same pattern, easy to use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1691640"/>
                <a:gridCol w="1783080"/>
                <a:gridCol w="33649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Infinitivo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(presente)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(passado)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 pão de queijo.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drink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Bebi uma cerveja.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buy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Comprei um chip de celular.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speak / to talk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Falei com minha mãe.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meet up / to find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Encontrei uns amigos.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meet (1st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conheço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 uma pessoa legal.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watch (TV, games)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 o jogo do Brasil.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gostar (de)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like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F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B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gostei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Gostei do restaurante.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VERBOS · ATENÇÃO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Cuidado! Mesma tradução, sentido diferente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these verbs are easy to mix up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21488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 ×  fui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7004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pro Brasil em março.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came (here, where I am now)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 pra Argentina.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went (there)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33008" y="2011680"/>
            <a:ext cx="541004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07328" y="21488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  ×  encontrei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507328" y="267004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 a Ana na festa.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met Ana (for the 1st time)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Encontrei a Ana no shopping.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ran into / met up with Ana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41004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22960" y="40690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ficar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459028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Fiquei em casa.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stayed home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Fiquei cansado.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got tired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33008" y="3931920"/>
            <a:ext cx="541004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07328" y="40690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507328" y="4590288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 do trabalho às 6h.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left work at 6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 com uns amigos.</a:t>
            </a:r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went out with some friends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21818"/>
            </a:avLst>
          </a:prstGeom>
          <a:solidFill>
            <a:srgbClr val="FFF4D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2960" y="58064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Ortografia:  </a:t>
            </a:r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→ che</a:t>
            </a:r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  ·   ficar → fi</a:t>
            </a:r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</a:t>
            </a:r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  ·   sair → sa</a:t>
            </a:r>
            <a:pPr indent="0" marL="0">
              <a:buNone/>
            </a:pPr>
            <a:r>
              <a:rPr lang="en-US" sz="18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pPr indent="0" marL="0">
              <a:buNone/>
            </a:pPr>
            <a:r>
              <a:rPr lang="en-US" sz="18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(with accent!)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EN → 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diz…?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verb in Portuguese — then say it in the past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390824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73704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573704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030904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3619424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3619424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233008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15888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15888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873088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6461608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6461608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9075191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258071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258071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715271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9303791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9303791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548640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188720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777240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39" name="Text 35"/>
          <p:cNvSpPr txBox="1"/>
          <p:nvPr/>
        </p:nvSpPr>
        <p:spPr>
          <a:xfrm>
            <a:off x="777240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3390824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3573704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3573704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4030904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stay</a:t>
            </a:r>
            <a:endParaRPr lang="en-US" sz="2000" dirty="0"/>
          </a:p>
        </p:txBody>
      </p:sp>
      <p:sp>
        <p:nvSpPr>
          <p:cNvPr id="44" name="Text 40"/>
          <p:cNvSpPr txBox="1"/>
          <p:nvPr/>
        </p:nvSpPr>
        <p:spPr>
          <a:xfrm>
            <a:off x="3619424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45" name="Text 41"/>
          <p:cNvSpPr txBox="1"/>
          <p:nvPr/>
        </p:nvSpPr>
        <p:spPr>
          <a:xfrm>
            <a:off x="3619424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6233008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415888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6415888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6873088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arrive</a:t>
            </a:r>
            <a:endParaRPr lang="en-US" sz="2000" dirty="0"/>
          </a:p>
        </p:txBody>
      </p:sp>
      <p:sp>
        <p:nvSpPr>
          <p:cNvPr id="50" name="Text 46"/>
          <p:cNvSpPr txBox="1"/>
          <p:nvPr/>
        </p:nvSpPr>
        <p:spPr>
          <a:xfrm>
            <a:off x="6461608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51" name="Text 47"/>
          <p:cNvSpPr txBox="1"/>
          <p:nvPr/>
        </p:nvSpPr>
        <p:spPr>
          <a:xfrm>
            <a:off x="6461608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52" name="Shape 48"/>
          <p:cNvSpPr/>
          <p:nvPr/>
        </p:nvSpPr>
        <p:spPr>
          <a:xfrm>
            <a:off x="9075191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9258071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9258071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9715271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meet (1st time)</a:t>
            </a:r>
            <a:endParaRPr lang="en-US" sz="2000" dirty="0"/>
          </a:p>
        </p:txBody>
      </p:sp>
      <p:sp>
        <p:nvSpPr>
          <p:cNvPr id="56" name="Text 52"/>
          <p:cNvSpPr txBox="1"/>
          <p:nvPr/>
        </p:nvSpPr>
        <p:spPr>
          <a:xfrm>
            <a:off x="9303791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  <p:sp>
        <p:nvSpPr>
          <p:cNvPr id="57" name="Text 53"/>
          <p:cNvSpPr txBox="1"/>
          <p:nvPr/>
        </p:nvSpPr>
        <p:spPr>
          <a:xfrm>
            <a:off x="9303791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EN → 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diz…?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verb in Portuguese — then say it in the past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fui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3390824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573704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573704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030904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3619424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3619424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tive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233008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15888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15888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873088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6461608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6461608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075191" y="20574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258071" y="22402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258071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715271" y="22219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9303791" y="2788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vir</a:t>
            </a:r>
            <a:endParaRPr lang="en-US" sz="2000" dirty="0"/>
          </a:p>
        </p:txBody>
      </p:sp>
      <p:sp>
        <p:nvSpPr>
          <p:cNvPr id="35" name="Text 31"/>
          <p:cNvSpPr txBox="1"/>
          <p:nvPr/>
        </p:nvSpPr>
        <p:spPr>
          <a:xfrm>
            <a:off x="9303791" y="32278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548640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1188720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</a:t>
            </a:r>
            <a:endParaRPr lang="en-US" sz="20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777240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disse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3390824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3573704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3573704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4030904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stay</a:t>
            </a:r>
            <a:endParaRPr lang="en-US" sz="2000" dirty="0"/>
          </a:p>
        </p:txBody>
      </p:sp>
      <p:sp>
        <p:nvSpPr>
          <p:cNvPr id="46" name="Text 42"/>
          <p:cNvSpPr txBox="1"/>
          <p:nvPr/>
        </p:nvSpPr>
        <p:spPr>
          <a:xfrm>
            <a:off x="3619424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2000" dirty="0"/>
          </a:p>
        </p:txBody>
      </p:sp>
      <p:sp>
        <p:nvSpPr>
          <p:cNvPr id="47" name="Text 43"/>
          <p:cNvSpPr txBox="1"/>
          <p:nvPr/>
        </p:nvSpPr>
        <p:spPr>
          <a:xfrm>
            <a:off x="3619424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fiquei</a:t>
            </a:r>
            <a:endParaRPr lang="en-US" sz="2000" dirty="0"/>
          </a:p>
        </p:txBody>
      </p:sp>
      <p:sp>
        <p:nvSpPr>
          <p:cNvPr id="48" name="Shape 44"/>
          <p:cNvSpPr/>
          <p:nvPr/>
        </p:nvSpPr>
        <p:spPr>
          <a:xfrm>
            <a:off x="6233008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415888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6415888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6873088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arrive</a:t>
            </a:r>
            <a:endParaRPr lang="en-US" sz="2000" dirty="0"/>
          </a:p>
        </p:txBody>
      </p:sp>
      <p:sp>
        <p:nvSpPr>
          <p:cNvPr id="52" name="Text 48"/>
          <p:cNvSpPr txBox="1"/>
          <p:nvPr/>
        </p:nvSpPr>
        <p:spPr>
          <a:xfrm>
            <a:off x="6461608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2000" dirty="0"/>
          </a:p>
        </p:txBody>
      </p:sp>
      <p:sp>
        <p:nvSpPr>
          <p:cNvPr id="53" name="Text 49"/>
          <p:cNvSpPr txBox="1"/>
          <p:nvPr/>
        </p:nvSpPr>
        <p:spPr>
          <a:xfrm>
            <a:off x="6461608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cheguei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9075191" y="41148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9258071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9258071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57" name="Text 53"/>
          <p:cNvSpPr txBox="1"/>
          <p:nvPr/>
        </p:nvSpPr>
        <p:spPr>
          <a:xfrm>
            <a:off x="9715271" y="4279392"/>
            <a:ext cx="179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meet (1st time)</a:t>
            </a:r>
            <a:endParaRPr lang="en-US" sz="2000" dirty="0"/>
          </a:p>
        </p:txBody>
      </p:sp>
      <p:sp>
        <p:nvSpPr>
          <p:cNvPr id="58" name="Text 54"/>
          <p:cNvSpPr txBox="1"/>
          <p:nvPr/>
        </p:nvSpPr>
        <p:spPr>
          <a:xfrm>
            <a:off x="9303791" y="48463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</a:t>
            </a:r>
            <a:endParaRPr lang="en-US" sz="2000" dirty="0"/>
          </a:p>
        </p:txBody>
      </p:sp>
      <p:sp>
        <p:nvSpPr>
          <p:cNvPr id="59" name="Text 55"/>
          <p:cNvSpPr txBox="1"/>
          <p:nvPr/>
        </p:nvSpPr>
        <p:spPr>
          <a:xfrm>
            <a:off x="9303791" y="5285232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0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0749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0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MATCHING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passado?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verb with its past form (eu)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24942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2560320" y="2194560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044952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23697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280160" y="304495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2560320" y="3182112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032504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42245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403250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2560320" y="4169664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8640" y="5020056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26" name="Shape 22"/>
          <p:cNvSpPr/>
          <p:nvPr/>
        </p:nvSpPr>
        <p:spPr>
          <a:xfrm>
            <a:off x="731520" y="52120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315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280160" y="502005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2560320" y="5157216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794760" y="2057400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31" name="Shape 27"/>
          <p:cNvSpPr/>
          <p:nvPr/>
        </p:nvSpPr>
        <p:spPr>
          <a:xfrm>
            <a:off x="3977640" y="224942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977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5806440" y="2194560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794760" y="3044952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36" name="Shape 32"/>
          <p:cNvSpPr/>
          <p:nvPr/>
        </p:nvSpPr>
        <p:spPr>
          <a:xfrm>
            <a:off x="3977640" y="323697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3977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4526280" y="304495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endParaRPr lang="en-US" sz="2200" dirty="0"/>
          </a:p>
        </p:txBody>
      </p:sp>
      <p:sp>
        <p:nvSpPr>
          <p:cNvPr id="39" name="Shape 35"/>
          <p:cNvSpPr/>
          <p:nvPr/>
        </p:nvSpPr>
        <p:spPr>
          <a:xfrm>
            <a:off x="5806440" y="3182112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794760" y="4032504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41" name="Shape 37"/>
          <p:cNvSpPr/>
          <p:nvPr/>
        </p:nvSpPr>
        <p:spPr>
          <a:xfrm>
            <a:off x="3977640" y="42245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39776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4526280" y="403250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5806440" y="4169664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794760" y="5020056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46" name="Shape 42"/>
          <p:cNvSpPr/>
          <p:nvPr/>
        </p:nvSpPr>
        <p:spPr>
          <a:xfrm>
            <a:off x="3977640" y="52120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3977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8" name="Text 44"/>
          <p:cNvSpPr txBox="1"/>
          <p:nvPr/>
        </p:nvSpPr>
        <p:spPr>
          <a:xfrm>
            <a:off x="4526280" y="502005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2200" dirty="0"/>
          </a:p>
        </p:txBody>
      </p:sp>
      <p:sp>
        <p:nvSpPr>
          <p:cNvPr id="49" name="Shape 45"/>
          <p:cNvSpPr/>
          <p:nvPr/>
        </p:nvSpPr>
        <p:spPr>
          <a:xfrm>
            <a:off x="5806440" y="5157216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498080" y="2057400"/>
            <a:ext cx="4144975" cy="3749040"/>
          </a:xfrm>
          <a:prstGeom prst="roundRect">
            <a:avLst>
              <a:gd name="adj" fmla="val 2927"/>
            </a:avLst>
          </a:prstGeom>
          <a:solidFill>
            <a:srgbClr val="FFF4D1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77724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</a:t>
            </a:r>
            <a:endParaRPr lang="en-US" sz="1600" dirty="0"/>
          </a:p>
        </p:txBody>
      </p:sp>
      <p:sp>
        <p:nvSpPr>
          <p:cNvPr id="52" name="Text 48"/>
          <p:cNvSpPr txBox="1"/>
          <p:nvPr/>
        </p:nvSpPr>
        <p:spPr>
          <a:xfrm>
            <a:off x="777240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</a:t>
            </a:r>
            <a:endParaRPr lang="en-US" sz="2400" dirty="0"/>
          </a:p>
        </p:txBody>
      </p:sp>
      <p:sp>
        <p:nvSpPr>
          <p:cNvPr id="53" name="Text 49"/>
          <p:cNvSpPr txBox="1"/>
          <p:nvPr/>
        </p:nvSpPr>
        <p:spPr>
          <a:xfrm>
            <a:off x="978408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</a:t>
            </a:r>
            <a:endParaRPr lang="en-US" sz="2400" dirty="0"/>
          </a:p>
        </p:txBody>
      </p:sp>
      <p:sp>
        <p:nvSpPr>
          <p:cNvPr id="54" name="Text 50"/>
          <p:cNvSpPr txBox="1"/>
          <p:nvPr/>
        </p:nvSpPr>
        <p:spPr>
          <a:xfrm>
            <a:off x="777240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</a:t>
            </a:r>
            <a:endParaRPr lang="en-US" sz="2400" dirty="0"/>
          </a:p>
        </p:txBody>
      </p:sp>
      <p:sp>
        <p:nvSpPr>
          <p:cNvPr id="55" name="Text 51"/>
          <p:cNvSpPr txBox="1"/>
          <p:nvPr/>
        </p:nvSpPr>
        <p:spPr>
          <a:xfrm>
            <a:off x="978408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voltei</a:t>
            </a:r>
            <a:endParaRPr lang="en-US" sz="2400" dirty="0"/>
          </a:p>
        </p:txBody>
      </p:sp>
      <p:sp>
        <p:nvSpPr>
          <p:cNvPr id="56" name="Text 52"/>
          <p:cNvSpPr txBox="1"/>
          <p:nvPr/>
        </p:nvSpPr>
        <p:spPr>
          <a:xfrm>
            <a:off x="7772400" y="4197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estive</a:t>
            </a:r>
            <a:endParaRPr lang="en-US" sz="2400" dirty="0"/>
          </a:p>
        </p:txBody>
      </p:sp>
      <p:sp>
        <p:nvSpPr>
          <p:cNvPr id="57" name="Text 53"/>
          <p:cNvSpPr txBox="1"/>
          <p:nvPr/>
        </p:nvSpPr>
        <p:spPr>
          <a:xfrm>
            <a:off x="9784080" y="4197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</a:t>
            </a:r>
            <a:endParaRPr lang="en-US" sz="2400" dirty="0"/>
          </a:p>
        </p:txBody>
      </p:sp>
      <p:sp>
        <p:nvSpPr>
          <p:cNvPr id="58" name="Text 54"/>
          <p:cNvSpPr txBox="1"/>
          <p:nvPr/>
        </p:nvSpPr>
        <p:spPr>
          <a:xfrm>
            <a:off x="7772400" y="4946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</a:t>
            </a:r>
            <a:endParaRPr lang="en-US" sz="2400" dirty="0"/>
          </a:p>
        </p:txBody>
      </p:sp>
      <p:sp>
        <p:nvSpPr>
          <p:cNvPr id="59" name="Text 55"/>
          <p:cNvSpPr txBox="1"/>
          <p:nvPr/>
        </p:nvSpPr>
        <p:spPr>
          <a:xfrm>
            <a:off x="9784080" y="4946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0749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0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MATCHING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passado?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verb with its past form (eu)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57400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224942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2560320" y="2194560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560320" y="2194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3044952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23697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280160" y="304495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2560320" y="3182112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560320" y="31821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48640" y="4032504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25" name="Shape 21"/>
          <p:cNvSpPr/>
          <p:nvPr/>
        </p:nvSpPr>
        <p:spPr>
          <a:xfrm>
            <a:off x="731520" y="42245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315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280160" y="403250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2560320" y="4169664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560320" y="416966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548640" y="5020056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31" name="Shape 27"/>
          <p:cNvSpPr/>
          <p:nvPr/>
        </p:nvSpPr>
        <p:spPr>
          <a:xfrm>
            <a:off x="731520" y="52120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315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280160" y="502005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2560320" y="5157216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2560320" y="515721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3794760" y="2057400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37" name="Shape 33"/>
          <p:cNvSpPr/>
          <p:nvPr/>
        </p:nvSpPr>
        <p:spPr>
          <a:xfrm>
            <a:off x="3977640" y="224942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3977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4526280" y="2057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5806440" y="2194560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5806440" y="2194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3794760" y="3044952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43" name="Shape 39"/>
          <p:cNvSpPr/>
          <p:nvPr/>
        </p:nvSpPr>
        <p:spPr>
          <a:xfrm>
            <a:off x="3977640" y="323697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3977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4526280" y="304495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endParaRPr lang="en-US" sz="2200" dirty="0"/>
          </a:p>
        </p:txBody>
      </p:sp>
      <p:sp>
        <p:nvSpPr>
          <p:cNvPr id="46" name="Shape 42"/>
          <p:cNvSpPr/>
          <p:nvPr/>
        </p:nvSpPr>
        <p:spPr>
          <a:xfrm>
            <a:off x="5806440" y="3182112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5806440" y="31821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48" name="Shape 44"/>
          <p:cNvSpPr/>
          <p:nvPr/>
        </p:nvSpPr>
        <p:spPr>
          <a:xfrm>
            <a:off x="3794760" y="4032504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49" name="Shape 45"/>
          <p:cNvSpPr/>
          <p:nvPr/>
        </p:nvSpPr>
        <p:spPr>
          <a:xfrm>
            <a:off x="3977640" y="42245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39776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4526280" y="403250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2200" dirty="0"/>
          </a:p>
        </p:txBody>
      </p:sp>
      <p:sp>
        <p:nvSpPr>
          <p:cNvPr id="52" name="Shape 48"/>
          <p:cNvSpPr/>
          <p:nvPr/>
        </p:nvSpPr>
        <p:spPr>
          <a:xfrm>
            <a:off x="5806440" y="4169664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5806440" y="416966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54" name="Shape 50"/>
          <p:cNvSpPr/>
          <p:nvPr/>
        </p:nvSpPr>
        <p:spPr>
          <a:xfrm>
            <a:off x="3794760" y="5020056"/>
            <a:ext cx="2971800" cy="777240"/>
          </a:xfrm>
          <a:prstGeom prst="roundRect">
            <a:avLst>
              <a:gd name="adj" fmla="val 14118"/>
            </a:avLst>
          </a:prstGeom>
          <a:solidFill>
            <a:srgbClr val="F3F6F4"/>
          </a:solidFill>
          <a:ln/>
        </p:spPr>
      </p:sp>
      <p:sp>
        <p:nvSpPr>
          <p:cNvPr id="55" name="Shape 51"/>
          <p:cNvSpPr/>
          <p:nvPr/>
        </p:nvSpPr>
        <p:spPr>
          <a:xfrm>
            <a:off x="3977640" y="52120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3977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4526280" y="502005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5806440" y="5157216"/>
            <a:ext cx="777240" cy="502920"/>
          </a:xfrm>
          <a:prstGeom prst="roundRect">
            <a:avLst>
              <a:gd name="adj" fmla="val 21818"/>
            </a:avLst>
          </a:prstGeom>
          <a:solidFill>
            <a:srgbClr val="1B7A55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5806440" y="515721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60" name="Shape 56"/>
          <p:cNvSpPr/>
          <p:nvPr/>
        </p:nvSpPr>
        <p:spPr>
          <a:xfrm>
            <a:off x="7498080" y="2057400"/>
            <a:ext cx="4144975" cy="3749040"/>
          </a:xfrm>
          <a:prstGeom prst="roundRect">
            <a:avLst>
              <a:gd name="adj" fmla="val 2927"/>
            </a:avLst>
          </a:prstGeom>
          <a:solidFill>
            <a:srgbClr val="FFF4D1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77724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</a:t>
            </a:r>
            <a:endParaRPr lang="en-US" sz="1600" dirty="0"/>
          </a:p>
        </p:txBody>
      </p:sp>
      <p:sp>
        <p:nvSpPr>
          <p:cNvPr id="62" name="Text 58"/>
          <p:cNvSpPr txBox="1"/>
          <p:nvPr/>
        </p:nvSpPr>
        <p:spPr>
          <a:xfrm>
            <a:off x="777240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</a:t>
            </a:r>
            <a:endParaRPr lang="en-US" sz="2400" dirty="0"/>
          </a:p>
        </p:txBody>
      </p:sp>
      <p:sp>
        <p:nvSpPr>
          <p:cNvPr id="63" name="Text 59"/>
          <p:cNvSpPr txBox="1"/>
          <p:nvPr/>
        </p:nvSpPr>
        <p:spPr>
          <a:xfrm>
            <a:off x="978408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</a:t>
            </a:r>
            <a:endParaRPr lang="en-US" sz="2400" dirty="0"/>
          </a:p>
        </p:txBody>
      </p:sp>
      <p:sp>
        <p:nvSpPr>
          <p:cNvPr id="64" name="Text 60"/>
          <p:cNvSpPr txBox="1"/>
          <p:nvPr/>
        </p:nvSpPr>
        <p:spPr>
          <a:xfrm>
            <a:off x="777240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</a:t>
            </a:r>
            <a:endParaRPr lang="en-US" sz="2400" dirty="0"/>
          </a:p>
        </p:txBody>
      </p:sp>
      <p:sp>
        <p:nvSpPr>
          <p:cNvPr id="65" name="Text 61"/>
          <p:cNvSpPr txBox="1"/>
          <p:nvPr/>
        </p:nvSpPr>
        <p:spPr>
          <a:xfrm>
            <a:off x="978408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voltei</a:t>
            </a:r>
            <a:endParaRPr lang="en-US" sz="2400" dirty="0"/>
          </a:p>
        </p:txBody>
      </p:sp>
      <p:sp>
        <p:nvSpPr>
          <p:cNvPr id="66" name="Text 62"/>
          <p:cNvSpPr txBox="1"/>
          <p:nvPr/>
        </p:nvSpPr>
        <p:spPr>
          <a:xfrm>
            <a:off x="7772400" y="4197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estive</a:t>
            </a:r>
            <a:endParaRPr lang="en-US" sz="2400" dirty="0"/>
          </a:p>
        </p:txBody>
      </p:sp>
      <p:sp>
        <p:nvSpPr>
          <p:cNvPr id="67" name="Text 63"/>
          <p:cNvSpPr txBox="1"/>
          <p:nvPr/>
        </p:nvSpPr>
        <p:spPr>
          <a:xfrm>
            <a:off x="9784080" y="4197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</a:t>
            </a:r>
            <a:endParaRPr lang="en-US" sz="2400" dirty="0"/>
          </a:p>
        </p:txBody>
      </p:sp>
      <p:sp>
        <p:nvSpPr>
          <p:cNvPr id="68" name="Text 64"/>
          <p:cNvSpPr txBox="1"/>
          <p:nvPr/>
        </p:nvSpPr>
        <p:spPr>
          <a:xfrm>
            <a:off x="7772400" y="4946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</a:t>
            </a:r>
            <a:endParaRPr lang="en-US" sz="2400" dirty="0"/>
          </a:p>
        </p:txBody>
      </p:sp>
      <p:sp>
        <p:nvSpPr>
          <p:cNvPr id="69" name="Text 65"/>
          <p:cNvSpPr txBox="1"/>
          <p:nvPr/>
        </p:nvSpPr>
        <p:spPr>
          <a:xfrm>
            <a:off x="9784080" y="4946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</a:t>
            </a:r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PT → 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significa?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in English? Pay attention to the verb!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25856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19456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 a Ana na festa.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66090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233008" y="205740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25856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6160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010248" y="219456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Encontrei a Ana no shopping.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7010248" y="266090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48640" y="33832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58444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72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3520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Fiquei cansado depois do trabalho.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1325880" y="398678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6233008" y="33832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61608" y="358444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4616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010248" y="3520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 do trabalho às 6h.</a:t>
            </a:r>
            <a:endParaRPr lang="en-US" sz="2100" dirty="0"/>
          </a:p>
        </p:txBody>
      </p:sp>
      <p:sp>
        <p:nvSpPr>
          <p:cNvPr id="29" name="Text 25"/>
          <p:cNvSpPr txBox="1"/>
          <p:nvPr/>
        </p:nvSpPr>
        <p:spPr>
          <a:xfrm>
            <a:off x="7010248" y="398678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48640" y="47091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77240" y="49103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772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325880" y="48463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pro Brasil em 2024.</a:t>
            </a:r>
            <a:endParaRPr lang="en-US" sz="2100" dirty="0"/>
          </a:p>
        </p:txBody>
      </p:sp>
      <p:sp>
        <p:nvSpPr>
          <p:cNvPr id="34" name="Text 30"/>
          <p:cNvSpPr txBox="1"/>
          <p:nvPr/>
        </p:nvSpPr>
        <p:spPr>
          <a:xfrm>
            <a:off x="1325880" y="531266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6233008" y="47091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461608" y="49103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461608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010248" y="48463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show foi incrível!</a:t>
            </a:r>
            <a:endParaRPr lang="en-US" sz="2100" dirty="0"/>
          </a:p>
        </p:txBody>
      </p:sp>
      <p:sp>
        <p:nvSpPr>
          <p:cNvPr id="39" name="Text 35"/>
          <p:cNvSpPr txBox="1"/>
          <p:nvPr/>
        </p:nvSpPr>
        <p:spPr>
          <a:xfrm>
            <a:off x="7010248" y="531266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VOCABULÁRIO · PT → 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significa?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in English? Pay attention to the verb!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5740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225856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19456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 a Ana na festa.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266090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Ana (for the first time) at the party.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233008" y="205740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61608" y="225856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6160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010248" y="219456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Encontrei a Ana no shopping.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7010248" y="266090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into / met up with Ana at the mall.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33832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77240" y="358444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772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3520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Fiquei cansado depois do trabalho.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1325880" y="398678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tired after work.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6233008" y="33832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61608" y="358444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4616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010248" y="35204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 do trabalho às 6h.</a:t>
            </a:r>
            <a:endParaRPr lang="en-US" sz="2100" dirty="0"/>
          </a:p>
        </p:txBody>
      </p:sp>
      <p:sp>
        <p:nvSpPr>
          <p:cNvPr id="31" name="Text 27"/>
          <p:cNvSpPr txBox="1"/>
          <p:nvPr/>
        </p:nvSpPr>
        <p:spPr>
          <a:xfrm>
            <a:off x="7010248" y="398678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left work at 6.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548640" y="47091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77240" y="49103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772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325880" y="48463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pro Brasil em 2024.</a:t>
            </a:r>
            <a:endParaRPr lang="en-US" sz="2100" dirty="0"/>
          </a:p>
        </p:txBody>
      </p:sp>
      <p:sp>
        <p:nvSpPr>
          <p:cNvPr id="36" name="Text 32"/>
          <p:cNvSpPr txBox="1"/>
          <p:nvPr/>
        </p:nvSpPr>
        <p:spPr>
          <a:xfrm>
            <a:off x="1325880" y="531266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came to Brazil in 2024.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6233008" y="47091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461608" y="491032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461608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7010248" y="48463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show foi incrível!</a:t>
            </a:r>
            <a:endParaRPr lang="en-US" sz="2100" dirty="0"/>
          </a:p>
        </p:txBody>
      </p:sp>
      <p:sp>
        <p:nvSpPr>
          <p:cNvPr id="41" name="Text 37"/>
          <p:cNvSpPr txBox="1"/>
          <p:nvPr/>
        </p:nvSpPr>
        <p:spPr>
          <a:xfrm>
            <a:off x="7010248" y="5312664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 was amazing! (foi = ser)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6382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MÚLTIPLA ESCOLHA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a alternativa correta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option — look for the time clues!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286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10312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shopping.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1325880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325880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vou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882189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882189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fui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438498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438498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fiz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310896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72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320040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jogo do Flamengo ontem?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1325880" y="362102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325880" y="362102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viu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2882189" y="3621024"/>
            <a:ext cx="1203350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882189" y="3621024"/>
            <a:ext cx="1203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vi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314139" y="3621024"/>
            <a:ext cx="1203350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314139" y="3621024"/>
            <a:ext cx="1203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vê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48640" y="420624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77240" y="448056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772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325880" y="429768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7h, mas ontem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10h.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1325880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325880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acordei / acordo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4498848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498848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acordo / acordei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7671816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671816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acordo / acordou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548640" y="530352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77240" y="557784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772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325880" y="539496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não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 à festa porque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trabalhar.</a:t>
            </a:r>
            <a:endParaRPr lang="en-US" sz="2100" dirty="0"/>
          </a:p>
        </p:txBody>
      </p:sp>
      <p:sp>
        <p:nvSpPr>
          <p:cNvPr id="44" name="Shape 40"/>
          <p:cNvSpPr/>
          <p:nvPr/>
        </p:nvSpPr>
        <p:spPr>
          <a:xfrm>
            <a:off x="1325880" y="5815584"/>
            <a:ext cx="2322576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1325880" y="58155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pude / tive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3877056" y="5815584"/>
            <a:ext cx="2446934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3877056" y="5815584"/>
            <a:ext cx="2446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posso / tive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6552590" y="5815584"/>
            <a:ext cx="2446934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6552590" y="5815584"/>
            <a:ext cx="2446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pude / tenho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6382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MÚLTIPLA ESCOLHA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a alternativa correta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option — look for the time clues!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228600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10312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fui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shopping.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1325880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325880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vou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882189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2882189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fui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438498" y="252374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438498" y="252374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fiz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310896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772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320040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viu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jogo do Flamengo ontem?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1325880" y="3621024"/>
            <a:ext cx="1327709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325880" y="3621024"/>
            <a:ext cx="13277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viu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2882189" y="3621024"/>
            <a:ext cx="1203350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882189" y="3621024"/>
            <a:ext cx="1203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vi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314139" y="3621024"/>
            <a:ext cx="1203350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314139" y="3621024"/>
            <a:ext cx="1203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vê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420624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77240" y="448056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772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325880" y="429768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7h, mas ontem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acordei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10h.</a:t>
            </a:r>
            <a:endParaRPr lang="en-US" sz="2100" dirty="0"/>
          </a:p>
        </p:txBody>
      </p:sp>
      <p:sp>
        <p:nvSpPr>
          <p:cNvPr id="36" name="Shape 32"/>
          <p:cNvSpPr/>
          <p:nvPr/>
        </p:nvSpPr>
        <p:spPr>
          <a:xfrm>
            <a:off x="1325880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325880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acordei / acordo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4498848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498848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acordo / acordei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7671816" y="4718304"/>
            <a:ext cx="2944368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671816" y="471830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acordo / acordou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548640" y="5303520"/>
            <a:ext cx="11094415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777240" y="557784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7772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1325880" y="539496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não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pude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 à festa porque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tive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trabalhar.</a:t>
            </a:r>
            <a:endParaRPr lang="en-US" sz="2100" dirty="0"/>
          </a:p>
        </p:txBody>
      </p:sp>
      <p:sp>
        <p:nvSpPr>
          <p:cNvPr id="46" name="Shape 42"/>
          <p:cNvSpPr/>
          <p:nvPr/>
        </p:nvSpPr>
        <p:spPr>
          <a:xfrm>
            <a:off x="1325880" y="5815584"/>
            <a:ext cx="2322576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1325880" y="58155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pude / tive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3877056" y="5815584"/>
            <a:ext cx="2446934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3877056" y="5815584"/>
            <a:ext cx="2446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posso / tive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6552590" y="5815584"/>
            <a:ext cx="2446934" cy="347472"/>
          </a:xfrm>
          <a:prstGeom prst="roundRect">
            <a:avLst>
              <a:gd name="adj" fmla="val 50000"/>
            </a:avLst>
          </a:prstGeom>
          <a:solidFill>
            <a:srgbClr val="F3F6F4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6552590" y="5815584"/>
            <a:ext cx="2446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pude / tenho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COMPLETE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no passado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 — use the verb in the past (eu)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2103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234440" y="21214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23444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· comprar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246120" y="20116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supermercado e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frutas.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48640" y="26974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234440" y="28072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234440" y="2807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3246120" y="26974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muito trabalho.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548640" y="33832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1234440" y="3493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1234440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3246120" y="33832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casa às 8h.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548640" y="40690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234440" y="41788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1234440" y="4178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3246120" y="40690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atrasado na aula.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548640" y="47548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35" name="Shape 31"/>
          <p:cNvSpPr/>
          <p:nvPr/>
        </p:nvSpPr>
        <p:spPr>
          <a:xfrm>
            <a:off x="685800" y="48463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8580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1234440" y="48646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1234440" y="4864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3246120" y="47548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"bom dia" pro porteiro.</a:t>
            </a:r>
            <a:endParaRPr lang="en-US" sz="2100" dirty="0"/>
          </a:p>
        </p:txBody>
      </p:sp>
      <p:sp>
        <p:nvSpPr>
          <p:cNvPr id="40" name="Shape 36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685800" y="5532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6858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Shape 39"/>
          <p:cNvSpPr/>
          <p:nvPr/>
        </p:nvSpPr>
        <p:spPr>
          <a:xfrm>
            <a:off x="1234440" y="55504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1234440" y="5550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3246120" y="54406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domingo eu </a:t>
            </a:r>
            <a:pPr indent="0" marL="0">
              <a:buNone/>
            </a:pPr>
            <a:r>
              <a:rPr lang="en-US" sz="21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casa o dia todo.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COMPLETE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no passado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 — use the verb in the past (eu)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103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21214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23444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· comprar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246120" y="20116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fui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supermercado e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comprei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frutas.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548640" y="26974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234440" y="28072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234440" y="2807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3246120" y="26974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tive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muito trabalho.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548640" y="33832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25" name="Shape 21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234440" y="3493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234440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3246120" y="33832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saí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casa às 8h.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548640" y="40690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858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1234440" y="41788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234440" y="4178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3246120" y="40690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cheguei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atrasado na aula.</a:t>
            </a:r>
            <a:endParaRPr lang="en-US" sz="2100" dirty="0"/>
          </a:p>
        </p:txBody>
      </p:sp>
      <p:sp>
        <p:nvSpPr>
          <p:cNvPr id="36" name="Shape 32"/>
          <p:cNvSpPr/>
          <p:nvPr/>
        </p:nvSpPr>
        <p:spPr>
          <a:xfrm>
            <a:off x="548640" y="47548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3F6F4"/>
          </a:solidFill>
          <a:ln/>
        </p:spPr>
      </p:sp>
      <p:sp>
        <p:nvSpPr>
          <p:cNvPr id="37" name="Shape 33"/>
          <p:cNvSpPr/>
          <p:nvPr/>
        </p:nvSpPr>
        <p:spPr>
          <a:xfrm>
            <a:off x="685800" y="48463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8580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1234440" y="48646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234440" y="4864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3246120" y="47548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disse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"bom dia" pro porteiro.</a:t>
            </a:r>
            <a:endParaRPr lang="en-US" sz="2100" dirty="0"/>
          </a:p>
        </p:txBody>
      </p:sp>
      <p:sp>
        <p:nvSpPr>
          <p:cNvPr id="42" name="Shape 38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43" name="Shape 39"/>
          <p:cNvSpPr/>
          <p:nvPr/>
        </p:nvSpPr>
        <p:spPr>
          <a:xfrm>
            <a:off x="685800" y="553212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858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1234440" y="55504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1234440" y="5550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3246120" y="5440680"/>
            <a:ext cx="8259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domingo eu </a:t>
            </a:r>
            <a:pPr indent="0" marL="0">
              <a:buNone/>
            </a:pPr>
            <a:r>
              <a:rPr lang="en-US" sz="2100" b="1" u="sng" dirty="0">
                <a:solidFill>
                  <a:srgbClr val="1B7A55"/>
                </a:solidFill>
                <a:uFill>
                  <a:solidFill>
                    <a:srgbClr val="1B7A55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fiquei</a:t>
            </a:r>
            <a:pPr indent="0" marL="0">
              <a:buNone/>
            </a:pPr>
            <a:r>
              <a:rPr lang="en-US" sz="2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casa o dia todo.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50362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503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PRESENTE → PASSADO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dia… mas ontem…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the text in the past: start with "Ontem…"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2240280"/>
            <a:ext cx="213786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68680" y="2240280"/>
            <a:ext cx="2137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· TODO DIA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788920"/>
            <a:ext cx="4724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7h.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 e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pão. Depois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trabalho de ônibus. À noite,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série e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durmo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23h.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6278728" y="20116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98768" y="2240280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98768" y="224028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 · ONTEM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98768" y="2788920"/>
            <a:ext cx="4724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7h. Eu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 e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pão. Depois eu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trabalho de ônibus. À noite, eu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série e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23h.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50362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503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PRESENTE → PASSADO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dia… mas ontem…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the text in the past: start with "Ontem…"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3F6F4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2240280"/>
            <a:ext cx="213786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2240280"/>
            <a:ext cx="2137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· TODO DIA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88920"/>
            <a:ext cx="4724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7h.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 e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pão. Depois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trabalho de ônibus. À noite, eu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série e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durmo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23h.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78728" y="20116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98768" y="2240280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598768" y="224028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 · ONTEM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598768" y="2788920"/>
            <a:ext cx="4724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acordei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7h. Eu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fiz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café e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comi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pão. Depois eu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fui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trabalho de ônibus. À noite, eu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 série e </a:t>
            </a:r>
            <a:pPr indent="0" marL="0">
              <a:lnSpc>
                <a:spcPct val="130000"/>
              </a:lnSpc>
              <a:buNone/>
            </a:pPr>
            <a:r>
              <a:rPr lang="en-US" sz="2400" b="1" u="sng" dirty="0">
                <a:solidFill>
                  <a:srgbClr val="F5B700"/>
                </a:solidFill>
                <a:uFill>
                  <a:solidFill>
                    <a:srgbClr val="F5B7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dormi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às 23h.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2440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244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EN → 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Traduza para o português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 Portuguese — it doesn't need to be word for word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011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the bakery and bought bread.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2011680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______________________________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48640" y="2852928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28529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a meeting in the morning.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6812280" y="2852928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______________________________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548640" y="3694176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369417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a Brazilian guy at the party. (1st time!)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6812280" y="3694176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______________________________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548640" y="4535424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731520" y="470916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315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325880" y="453542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stayed home and watched a series.</a:t>
            </a:r>
            <a:endParaRPr lang="en-US" sz="1900" dirty="0"/>
          </a:p>
        </p:txBody>
      </p:sp>
      <p:sp>
        <p:nvSpPr>
          <p:cNvPr id="29" name="Text 25"/>
          <p:cNvSpPr txBox="1"/>
          <p:nvPr/>
        </p:nvSpPr>
        <p:spPr>
          <a:xfrm>
            <a:off x="6812280" y="4535424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______________________________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48640" y="5376672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31" name="Shape 27"/>
          <p:cNvSpPr/>
          <p:nvPr/>
        </p:nvSpPr>
        <p:spPr>
          <a:xfrm>
            <a:off x="731520" y="555040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315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325880" y="537667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on the weekend?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6812280" y="5376672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______________________________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2440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244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EN → 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Traduza para o português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 Portuguese — it doesn't need to be word for word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011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the bakery and bought bread.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812280" y="2011680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fui à padaria e comprei pão.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48640" y="2852928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28529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a meeting in the morning.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6812280" y="2852928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tive uma reunião de manhã.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548640" y="3694176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23" name="Shape 19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369417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a Brazilian guy at the party. (1st time!)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6812280" y="3694176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conheci um brasileiro na festa.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548640" y="4535424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731520" y="470916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325880" y="453542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stayed home and watched a series.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6812280" y="4535424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fiquei em casa e assisti uma série.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548640" y="5376672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3F6F4"/>
          </a:solidFill>
          <a:ln/>
        </p:spPr>
      </p:sp>
      <p:sp>
        <p:nvSpPr>
          <p:cNvPr id="33" name="Shape 29"/>
          <p:cNvSpPr/>
          <p:nvPr/>
        </p:nvSpPr>
        <p:spPr>
          <a:xfrm>
            <a:off x="731520" y="5550408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315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325880" y="537667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on the weekend?</a:t>
            </a:r>
            <a:endParaRPr lang="en-US" sz="1900" dirty="0"/>
          </a:p>
        </p:txBody>
      </p:sp>
      <p:sp>
        <p:nvSpPr>
          <p:cNvPr id="36" name="Text 32"/>
          <p:cNvSpPr txBox="1"/>
          <p:nvPr/>
        </p:nvSpPr>
        <p:spPr>
          <a:xfrm>
            <a:off x="6812280" y="5376672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no fim de semana?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7055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0705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ENCONTRE O ERRO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Encontre o erro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has ONE mistake. Find it and fix it.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236829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01168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jantar.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6233008" y="20116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61608" y="236829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61608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010248" y="201168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Você trabalhou ontem? — Sim,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trabalhou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548640" y="33375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369417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72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325880" y="333756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passada eu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cinema.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6233008" y="33375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23" name="Shape 19"/>
          <p:cNvSpPr/>
          <p:nvPr/>
        </p:nvSpPr>
        <p:spPr>
          <a:xfrm>
            <a:off x="6461608" y="369417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6160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010248" y="333756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muito tarde.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548640" y="466344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27" name="Shape 23"/>
          <p:cNvSpPr/>
          <p:nvPr/>
        </p:nvSpPr>
        <p:spPr>
          <a:xfrm>
            <a:off x="777240" y="502005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77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325880" y="466344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Anteontem eu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dez horas.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6233008" y="466344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BE7E4"/>
          </a:solidFill>
          <a:ln/>
        </p:spPr>
      </p:sp>
      <p:sp>
        <p:nvSpPr>
          <p:cNvPr id="31" name="Shape 27"/>
          <p:cNvSpPr/>
          <p:nvPr/>
        </p:nvSpPr>
        <p:spPr>
          <a:xfrm>
            <a:off x="6461608" y="5020056"/>
            <a:ext cx="384048" cy="384048"/>
          </a:xfrm>
          <a:prstGeom prst="ellipse">
            <a:avLst/>
          </a:prstGeom>
          <a:solidFill>
            <a:srgbClr val="C8453C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46160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010248" y="466344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fui ao mercado e 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arroz.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70555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0705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ENCONTRE O ERRO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Encontre o erro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has ONE mistake. Find it and fix it.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236829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01168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fiz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jantar.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6233008" y="201168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1608" y="236829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61608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010248" y="201168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Você trabalhou ontem? — Sim,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trabalhou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trabalhei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48640" y="33375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369417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72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333756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passada eu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cinema.</a:t>
            </a:r>
            <a:endParaRPr lang="en-US" sz="2100" dirty="0"/>
          </a:p>
        </p:txBody>
      </p:sp>
      <p:sp>
        <p:nvSpPr>
          <p:cNvPr id="24" name="Shape 20"/>
          <p:cNvSpPr/>
          <p:nvPr/>
        </p:nvSpPr>
        <p:spPr>
          <a:xfrm>
            <a:off x="6233008" y="333756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61608" y="369417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6160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7010248" y="333756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chegei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cheguei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muito tarde.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548640" y="466344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77240" y="502005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77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325880" y="466344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Anteontem eu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dormei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dormi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dez horas.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>
            <a:off x="6233008" y="466344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461608" y="5020056"/>
            <a:ext cx="384048" cy="38404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461608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7010248" y="4663440"/>
            <a:ext cx="444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fui ao mercado e </a:t>
            </a:r>
            <a:pPr indent="0" marL="0">
              <a:buNone/>
            </a:pPr>
            <a:r>
              <a:rPr lang="en-US" sz="2100" strike="sngStrike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</a:t>
            </a:r>
            <a:pPr indent="0" marL="0">
              <a:buNone/>
            </a:pPr>
            <a:r>
              <a:rPr lang="en-US" sz="21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comprei</a:t>
            </a:r>
            <a:pPr indent="0" marL="0">
              <a:buNone/>
            </a:pPr>
            <a:r>
              <a:rPr lang="en-US" sz="21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arroz.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PRÁTICA · CRIE FRASES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frase com os dois verbos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true sentence in the past with both verbs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2240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+ comprar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822960" y="2907792"/>
            <a:ext cx="1345082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2907792"/>
            <a:ext cx="13450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sábado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38218" y="20116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612538" y="2240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acordar + fazer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612538" y="2907792"/>
            <a:ext cx="1780337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2538" y="2907792"/>
            <a:ext cx="17803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de manhã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27797" y="20116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402117" y="2240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 + encontrar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402117" y="2907792"/>
            <a:ext cx="1780337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402117" y="2907792"/>
            <a:ext cx="17803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à noite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37490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22960" y="3977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chegar + ficar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822960" y="4645152"/>
            <a:ext cx="909828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22960" y="4645152"/>
            <a:ext cx="90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338218" y="37490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4612538" y="3977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+ gostar</a:t>
            </a:r>
            <a:endParaRPr lang="en-US" sz="2600" dirty="0"/>
          </a:p>
        </p:txBody>
      </p:sp>
      <p:sp>
        <p:nvSpPr>
          <p:cNvPr id="28" name="Shape 24"/>
          <p:cNvSpPr/>
          <p:nvPr/>
        </p:nvSpPr>
        <p:spPr>
          <a:xfrm>
            <a:off x="4612538" y="4645152"/>
            <a:ext cx="1889150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612538" y="4645152"/>
            <a:ext cx="18891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passada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127797" y="374904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8402117" y="3977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 + conhecer</a:t>
            </a:r>
            <a:endParaRPr lang="en-US" sz="2600" dirty="0"/>
          </a:p>
        </p:txBody>
      </p:sp>
      <p:sp>
        <p:nvSpPr>
          <p:cNvPr id="32" name="Shape 28"/>
          <p:cNvSpPr/>
          <p:nvPr/>
        </p:nvSpPr>
        <p:spPr>
          <a:xfrm>
            <a:off x="8402117" y="4645152"/>
            <a:ext cx="1127455" cy="402336"/>
          </a:xfrm>
          <a:prstGeom prst="roundRect">
            <a:avLst>
              <a:gd name="adj" fmla="val 50000"/>
            </a:avLst>
          </a:prstGeom>
          <a:solidFill>
            <a:srgbClr val="FFF4D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402117" y="4645152"/>
            <a:ext cx="1127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quando…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E3F1EA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 </a:t>
            </a:r>
            <a:pPr indent="0" marL="0">
              <a:buNone/>
            </a:pPr>
            <a:r>
              <a:rPr lang="en-US" sz="19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+ dormir  →  </a:t>
            </a:r>
            <a:pPr indent="0" marL="0">
              <a:buNone/>
            </a:pPr>
            <a:r>
              <a:rPr lang="en-US" sz="19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voltei pra casa às 10h e dormi logo.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PERGUNTAS · RODADA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pergunto, você responde (1/2)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full sentences + one extra detail. The verbs can help you.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139696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208483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acordou hoje?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07008" y="2560320"/>
            <a:ext cx="1073048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07008" y="2560320"/>
            <a:ext cx="107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371496" y="2560320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371496" y="2560320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333902" y="2560320"/>
            <a:ext cx="769925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333902" y="2560320"/>
            <a:ext cx="769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33008" y="2011680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15888" y="2139696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15888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891376" y="208483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 no café da manhã?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891376" y="2560320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91376" y="2560320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853782" y="2560320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853782" y="2560320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16188" y="2560320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816188" y="2560320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48640" y="3090672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31520" y="3218688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315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207008" y="316382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ontem à noite?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1207008" y="3639312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207008" y="3639312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2169414" y="3639312"/>
            <a:ext cx="1174090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2169414" y="3639312"/>
            <a:ext cx="117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assistir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3434944" y="3639312"/>
            <a:ext cx="769925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3434944" y="3639312"/>
            <a:ext cx="769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4296308" y="3639312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296308" y="3639312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233008" y="3090672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415888" y="3218688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41588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6891376" y="316382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trabalhou ou estudou ontem?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6891376" y="3639312"/>
            <a:ext cx="1275131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6891376" y="3639312"/>
            <a:ext cx="1275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8257946" y="3639312"/>
            <a:ext cx="1073048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257946" y="3639312"/>
            <a:ext cx="107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9422435" y="3639312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9422435" y="3639312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48640" y="4169664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1207008" y="424281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foi no fim de semana?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>
            <a:off x="1207008" y="4718304"/>
            <a:ext cx="567842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1207008" y="4718304"/>
            <a:ext cx="567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1866290" y="4718304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1866290" y="4718304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2626614" y="4718304"/>
            <a:ext cx="1275131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2626614" y="4718304"/>
            <a:ext cx="1275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</a:t>
            </a:r>
            <a:endParaRPr lang="en-US" sz="1300" dirty="0"/>
          </a:p>
        </p:txBody>
      </p:sp>
      <p:sp>
        <p:nvSpPr>
          <p:cNvPr id="62" name="Shape 58"/>
          <p:cNvSpPr/>
          <p:nvPr/>
        </p:nvSpPr>
        <p:spPr>
          <a:xfrm>
            <a:off x="3993185" y="4718304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3993185" y="4718304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300" dirty="0"/>
          </a:p>
        </p:txBody>
      </p:sp>
      <p:sp>
        <p:nvSpPr>
          <p:cNvPr id="64" name="Shape 60"/>
          <p:cNvSpPr/>
          <p:nvPr/>
        </p:nvSpPr>
        <p:spPr>
          <a:xfrm>
            <a:off x="6233008" y="4169664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415888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6415888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Text 63"/>
          <p:cNvSpPr txBox="1"/>
          <p:nvPr/>
        </p:nvSpPr>
        <p:spPr>
          <a:xfrm>
            <a:off x="6891376" y="424281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quem você falou ontem? Sobre o quê?</a:t>
            </a:r>
            <a:endParaRPr lang="en-US" sz="1800" dirty="0"/>
          </a:p>
        </p:txBody>
      </p:sp>
      <p:sp>
        <p:nvSpPr>
          <p:cNvPr id="68" name="Shape 64"/>
          <p:cNvSpPr/>
          <p:nvPr/>
        </p:nvSpPr>
        <p:spPr>
          <a:xfrm>
            <a:off x="6891376" y="4718304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6891376" y="4718304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</a:t>
            </a:r>
            <a:endParaRPr lang="en-US" sz="1300" dirty="0"/>
          </a:p>
        </p:txBody>
      </p:sp>
      <p:sp>
        <p:nvSpPr>
          <p:cNvPr id="70" name="Shape 66"/>
          <p:cNvSpPr/>
          <p:nvPr/>
        </p:nvSpPr>
        <p:spPr>
          <a:xfrm>
            <a:off x="7853782" y="4718304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7853782" y="4718304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1300" dirty="0"/>
          </a:p>
        </p:txBody>
      </p:sp>
      <p:sp>
        <p:nvSpPr>
          <p:cNvPr id="72" name="Shape 68"/>
          <p:cNvSpPr/>
          <p:nvPr/>
        </p:nvSpPr>
        <p:spPr>
          <a:xfrm>
            <a:off x="8816188" y="4718304"/>
            <a:ext cx="1275131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8816188" y="4718304"/>
            <a:ext cx="1275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</a:t>
            </a:r>
            <a:endParaRPr lang="en-US" sz="1300" dirty="0"/>
          </a:p>
        </p:txBody>
      </p:sp>
      <p:sp>
        <p:nvSpPr>
          <p:cNvPr id="74" name="Shape 70"/>
          <p:cNvSpPr/>
          <p:nvPr/>
        </p:nvSpPr>
        <p:spPr>
          <a:xfrm>
            <a:off x="548640" y="5248656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731520" y="5376672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731520" y="5376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1207008" y="5321808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assistiu alguma coisa essa semana?</a:t>
            </a:r>
            <a:endParaRPr lang="en-US" sz="1800" dirty="0"/>
          </a:p>
        </p:txBody>
      </p:sp>
      <p:sp>
        <p:nvSpPr>
          <p:cNvPr id="78" name="Shape 74"/>
          <p:cNvSpPr/>
          <p:nvPr/>
        </p:nvSpPr>
        <p:spPr>
          <a:xfrm>
            <a:off x="1207008" y="5797296"/>
            <a:ext cx="1174090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207008" y="5797296"/>
            <a:ext cx="117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assistir</a:t>
            </a:r>
            <a:endParaRPr lang="en-US" sz="1300" dirty="0"/>
          </a:p>
        </p:txBody>
      </p:sp>
      <p:sp>
        <p:nvSpPr>
          <p:cNvPr id="80" name="Shape 76"/>
          <p:cNvSpPr/>
          <p:nvPr/>
        </p:nvSpPr>
        <p:spPr>
          <a:xfrm>
            <a:off x="2472538" y="5797296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2472538" y="5797296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1300" dirty="0"/>
          </a:p>
        </p:txBody>
      </p:sp>
      <p:sp>
        <p:nvSpPr>
          <p:cNvPr id="82" name="Shape 78"/>
          <p:cNvSpPr/>
          <p:nvPr/>
        </p:nvSpPr>
        <p:spPr>
          <a:xfrm>
            <a:off x="3232861" y="5797296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3232861" y="5797296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gostar</a:t>
            </a:r>
            <a:endParaRPr lang="en-US" sz="1300" dirty="0"/>
          </a:p>
        </p:txBody>
      </p:sp>
      <p:sp>
        <p:nvSpPr>
          <p:cNvPr id="84" name="Shape 80"/>
          <p:cNvSpPr/>
          <p:nvPr/>
        </p:nvSpPr>
        <p:spPr>
          <a:xfrm>
            <a:off x="6233008" y="5248656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4D1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6507328" y="5248656"/>
            <a:ext cx="48614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as ideias:  </a:t>
            </a:r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primeiro… · depois… · aí… · mais tarde… · porque…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PERGUNTAS · RODADA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pergunto, você responde (2/2)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full sentences + one extra detail. The verbs can help you.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139696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208483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comprou alguma coisa recentemente?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07008" y="2560320"/>
            <a:ext cx="1073048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07008" y="2560320"/>
            <a:ext cx="107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371496" y="2560320"/>
            <a:ext cx="567842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371496" y="2560320"/>
            <a:ext cx="567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030779" y="2560320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030779" y="2560320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33008" y="2011680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15888" y="2139696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15888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891376" y="208483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depois do trabalho ontem?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891376" y="2560320"/>
            <a:ext cx="769925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91376" y="2560320"/>
            <a:ext cx="769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752740" y="2560320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752740" y="2560320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16188" y="2560320"/>
            <a:ext cx="567842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816188" y="2560320"/>
            <a:ext cx="567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9475470" y="2560320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9475470" y="2560320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48640" y="3090672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31520" y="3218688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315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207008" y="316382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chegou em casa ontem?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1207008" y="3639312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207008" y="3639312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2270455" y="3639312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2270455" y="3639312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3333902" y="3639312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3333902" y="3639312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233008" y="3090672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415888" y="3218688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41588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6891376" y="316382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conheceu alguém novo recentemente?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6891376" y="3639312"/>
            <a:ext cx="1174090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6891376" y="3639312"/>
            <a:ext cx="117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8156905" y="3639312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156905" y="3639312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9119311" y="3639312"/>
            <a:ext cx="1275131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9119311" y="3639312"/>
            <a:ext cx="1275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48640" y="4169664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1207008" y="424281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comeu comida brasileira essa semana?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>
            <a:off x="1207008" y="4718304"/>
            <a:ext cx="870966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1207008" y="4718304"/>
            <a:ext cx="870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2169414" y="4718304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2169414" y="4718304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gostar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3232861" y="4718304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3232861" y="4718304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1300" dirty="0"/>
          </a:p>
        </p:txBody>
      </p:sp>
      <p:sp>
        <p:nvSpPr>
          <p:cNvPr id="62" name="Shape 58"/>
          <p:cNvSpPr/>
          <p:nvPr/>
        </p:nvSpPr>
        <p:spPr>
          <a:xfrm>
            <a:off x="6233008" y="4169664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3" name="Shape 59"/>
          <p:cNvSpPr/>
          <p:nvPr/>
        </p:nvSpPr>
        <p:spPr>
          <a:xfrm>
            <a:off x="6415888" y="4297680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6415888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65" name="Text 61"/>
          <p:cNvSpPr txBox="1"/>
          <p:nvPr/>
        </p:nvSpPr>
        <p:spPr>
          <a:xfrm>
            <a:off x="6891376" y="424281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dormiu bem essa noite?</a:t>
            </a:r>
            <a:endParaRPr lang="en-US" sz="1800" dirty="0"/>
          </a:p>
        </p:txBody>
      </p:sp>
      <p:sp>
        <p:nvSpPr>
          <p:cNvPr id="66" name="Shape 62"/>
          <p:cNvSpPr/>
          <p:nvPr/>
        </p:nvSpPr>
        <p:spPr>
          <a:xfrm>
            <a:off x="6891376" y="4718304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6891376" y="4718304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1300" dirty="0"/>
          </a:p>
        </p:txBody>
      </p:sp>
      <p:sp>
        <p:nvSpPr>
          <p:cNvPr id="68" name="Shape 64"/>
          <p:cNvSpPr/>
          <p:nvPr/>
        </p:nvSpPr>
        <p:spPr>
          <a:xfrm>
            <a:off x="7954823" y="4718304"/>
            <a:ext cx="1073048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7954823" y="4718304"/>
            <a:ext cx="107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</a:t>
            </a:r>
            <a:endParaRPr lang="en-US" sz="1300" dirty="0"/>
          </a:p>
        </p:txBody>
      </p:sp>
      <p:sp>
        <p:nvSpPr>
          <p:cNvPr id="70" name="Shape 66"/>
          <p:cNvSpPr/>
          <p:nvPr/>
        </p:nvSpPr>
        <p:spPr>
          <a:xfrm>
            <a:off x="9119311" y="4718304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9119311" y="4718304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300" dirty="0"/>
          </a:p>
        </p:txBody>
      </p:sp>
      <p:sp>
        <p:nvSpPr>
          <p:cNvPr id="72" name="Shape 68"/>
          <p:cNvSpPr/>
          <p:nvPr/>
        </p:nvSpPr>
        <p:spPr>
          <a:xfrm>
            <a:off x="548640" y="5248656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731520" y="5376672"/>
            <a:ext cx="347472" cy="347472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731520" y="5376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75" name="Text 71"/>
          <p:cNvSpPr txBox="1"/>
          <p:nvPr/>
        </p:nvSpPr>
        <p:spPr>
          <a:xfrm>
            <a:off x="1207008" y="5321808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por que você veio para o Brasil?</a:t>
            </a:r>
            <a:endParaRPr lang="en-US" sz="1800" dirty="0"/>
          </a:p>
        </p:txBody>
      </p:sp>
      <p:sp>
        <p:nvSpPr>
          <p:cNvPr id="76" name="Shape 72"/>
          <p:cNvSpPr/>
          <p:nvPr/>
        </p:nvSpPr>
        <p:spPr>
          <a:xfrm>
            <a:off x="1207008" y="5797296"/>
            <a:ext cx="668884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1207008" y="5797296"/>
            <a:ext cx="66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</a:t>
            </a:r>
            <a:endParaRPr lang="en-US" sz="1300" dirty="0"/>
          </a:p>
        </p:txBody>
      </p:sp>
      <p:sp>
        <p:nvSpPr>
          <p:cNvPr id="78" name="Shape 74"/>
          <p:cNvSpPr/>
          <p:nvPr/>
        </p:nvSpPr>
        <p:spPr>
          <a:xfrm>
            <a:off x="1967332" y="5797296"/>
            <a:ext cx="972007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967332" y="5797296"/>
            <a:ext cx="972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</a:t>
            </a:r>
            <a:endParaRPr lang="en-US" sz="1300" dirty="0"/>
          </a:p>
        </p:txBody>
      </p:sp>
      <p:sp>
        <p:nvSpPr>
          <p:cNvPr id="80" name="Shape 76"/>
          <p:cNvSpPr/>
          <p:nvPr/>
        </p:nvSpPr>
        <p:spPr>
          <a:xfrm>
            <a:off x="3030779" y="5797296"/>
            <a:ext cx="1174090" cy="27432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3030779" y="5797296"/>
            <a:ext cx="117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</a:t>
            </a:r>
            <a:endParaRPr lang="en-US" sz="1300" dirty="0"/>
          </a:p>
        </p:txBody>
      </p:sp>
      <p:sp>
        <p:nvSpPr>
          <p:cNvPr id="82" name="Shape 78"/>
          <p:cNvSpPr/>
          <p:nvPr/>
        </p:nvSpPr>
        <p:spPr>
          <a:xfrm>
            <a:off x="6233008" y="5248656"/>
            <a:ext cx="5410048" cy="932688"/>
          </a:xfrm>
          <a:prstGeom prst="roundRect">
            <a:avLst>
              <a:gd name="adj" fmla="val 11765"/>
            </a:avLst>
          </a:prstGeom>
          <a:solidFill>
            <a:srgbClr val="FFF4D1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6507328" y="5248656"/>
            <a:ext cx="48614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as ideias:  </a:t>
            </a:r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primeiro… · depois… · aí… · mais tarde… · porque…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PERGUNTAS · RODADA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VOCÊ pergunta!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teacher in Portuguese. Then react — Sério? Que legal! — and ask one more.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31520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/ do / last night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79394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562274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/ wake up / today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210148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393028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go / on the weekend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040901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223781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/ eat / for lunch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31520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anything good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3379394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3562274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something / recently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210148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393028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talk to / today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9040901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9223781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out / on Saturday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48640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31520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/ the last movie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3379394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3562274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(1st time) / someone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210148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6393028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well / last night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9040901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9223781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was… / your weekend?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E3F1EA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22960" y="576072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com:  </a:t>
            </a:r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você…?  ·  Onde você…?  ·  Que horas você…?  ·  Com quem você…?  ·  Você…?  ·  Como foi…?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PERGUNTAS · RODADA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VOCÊ pergunta!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teacher in Portuguese. Then react — Sério? Que legal! — and ask one more.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31520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/ do / last night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2423160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ontem à noite?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379394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562274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/ wake up / today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562274" y="2423160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acordou hoje?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210148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393028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go / on the weekend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393028" y="2423160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foi no fim de semana?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9040901" y="2011680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9223781" y="212140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/ eat / for lunch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223781" y="2423160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 no almoço?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48640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31520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anything good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31520" y="3685032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assistiu alguma coisa boa?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3379394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3562274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something / recently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562274" y="3685032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comprou alguma coisa recentemente?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6210148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6393028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talk to / today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393028" y="3685032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quem você falou hoje?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9040901" y="3273552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9223781" y="33832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out / on Saturday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9223781" y="3685032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saiu no sábado?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548640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731520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/ the last movie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731520" y="4946904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gostou do último filme que viu?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3379394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3562274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(1st time) / someone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3562274" y="4946904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conheceu alguém interessante?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6210148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6393028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well / last night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393028" y="4946904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dormiu bem ontem à noite?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9040901" y="4535424"/>
            <a:ext cx="2602154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9223781" y="464515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was… / your weekend?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9223781" y="4946904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o seu fim de semana?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E3F1EA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22960" y="576072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com:  </a:t>
            </a:r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você…?  ·  Onde você…?  ·  Que horas você…?  ·  Com quem você…?  ·  Você…?  ·  Como foi…?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DESAFIO ORAL · 6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ontem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 day yesterday — from morning to night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965960"/>
            <a:ext cx="1733702" cy="420624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48640" y="1965960"/>
            <a:ext cx="173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minutos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465222" y="1965960"/>
            <a:ext cx="2852928" cy="420624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465222" y="196596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verbos diferentes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651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3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0348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288036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manhã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822960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acordei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2331720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33172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fiz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22960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bebi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2331720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331720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saí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22960" y="4654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22960" y="4654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tive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4338218" y="2651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3F6F4"/>
          </a:solidFill>
          <a:ln/>
        </p:spPr>
      </p:sp>
      <p:sp>
        <p:nvSpPr>
          <p:cNvPr id="29" name="Shape 24"/>
          <p:cNvSpPr/>
          <p:nvPr/>
        </p:nvSpPr>
        <p:spPr>
          <a:xfrm>
            <a:off x="4612538" y="2880360"/>
            <a:ext cx="594360" cy="59436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72" y="3034894"/>
            <a:ext cx="285293" cy="28529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344058" y="288036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tarde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4612538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612538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comi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121298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121298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trabalhei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4612538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612538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fui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6121298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6121298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encontrei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4612538" y="4654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4612538" y="4654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comprei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8127797" y="2651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0F3D2E"/>
          </a:solidFill>
          <a:ln/>
        </p:spPr>
      </p:sp>
      <p:sp>
        <p:nvSpPr>
          <p:cNvPr id="43" name="Shape 37"/>
          <p:cNvSpPr/>
          <p:nvPr/>
        </p:nvSpPr>
        <p:spPr>
          <a:xfrm>
            <a:off x="8402117" y="2880360"/>
            <a:ext cx="594360" cy="59436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650" y="3034894"/>
            <a:ext cx="285293" cy="2852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133637" y="2880360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noite</a:t>
            </a:r>
            <a:endParaRPr lang="en-US" sz="2400" dirty="0"/>
          </a:p>
        </p:txBody>
      </p:sp>
      <p:sp>
        <p:nvSpPr>
          <p:cNvPr id="46" name="Shape 39"/>
          <p:cNvSpPr/>
          <p:nvPr/>
        </p:nvSpPr>
        <p:spPr>
          <a:xfrm>
            <a:off x="8402117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5A45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8402117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voltei</a:t>
            </a: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9910877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5A45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9910877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cheguei</a:t>
            </a:r>
            <a:endParaRPr lang="en-US" sz="1600" dirty="0"/>
          </a:p>
        </p:txBody>
      </p:sp>
      <p:sp>
        <p:nvSpPr>
          <p:cNvPr id="50" name="Shape 43"/>
          <p:cNvSpPr/>
          <p:nvPr/>
        </p:nvSpPr>
        <p:spPr>
          <a:xfrm>
            <a:off x="8402117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5A45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8402117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assisti</a:t>
            </a:r>
            <a:endParaRPr lang="en-US" sz="1600" dirty="0"/>
          </a:p>
        </p:txBody>
      </p:sp>
      <p:sp>
        <p:nvSpPr>
          <p:cNvPr id="52" name="Shape 45"/>
          <p:cNvSpPr/>
          <p:nvPr/>
        </p:nvSpPr>
        <p:spPr>
          <a:xfrm>
            <a:off x="9910877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5A45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9910877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fiquei</a:t>
            </a:r>
            <a:endParaRPr lang="en-US" sz="1600" dirty="0"/>
          </a:p>
        </p:txBody>
      </p:sp>
      <p:sp>
        <p:nvSpPr>
          <p:cNvPr id="54" name="Shape 47"/>
          <p:cNvSpPr/>
          <p:nvPr/>
        </p:nvSpPr>
        <p:spPr>
          <a:xfrm>
            <a:off x="8402117" y="4654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5A45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8402117" y="4654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dormi</a:t>
            </a:r>
            <a:endParaRPr lang="en-US" sz="1600" dirty="0"/>
          </a:p>
        </p:txBody>
      </p:sp>
      <p:sp>
        <p:nvSpPr>
          <p:cNvPr id="56" name="Shape 49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3F1EA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Primeiro… · Depois… · Aí… · Mais tarde… · No final do dia…</a:t>
            </a:r>
            <a:endParaRPr lang="en-US" sz="18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ganhar tempo: Deixa eu pensar… · Hmm… · Tipo… · Então…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4018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884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DESAFIO ORAL · CONVERSA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conta mais…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— answer in the past and keep the conversation going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68680" y="20116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saiu de casa?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33008" y="2011680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53048" y="201168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 no almoço? Onde?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2852928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28529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falou com alguém interessante?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233008" y="2852928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53048" y="28529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comprou alguma coisa?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548640" y="3694176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3694176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depois do trabalho?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233008" y="3694176"/>
            <a:ext cx="5410048" cy="685800"/>
          </a:xfrm>
          <a:prstGeom prst="roundRect">
            <a:avLst>
              <a:gd name="adj" fmla="val 40000"/>
            </a:avLst>
          </a:prstGeom>
          <a:solidFill>
            <a:srgbClr val="F3F6F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53048" y="3694176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melhor parte do seu dia? E a pior?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548640" y="47548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5074920"/>
            <a:ext cx="822960" cy="82296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5288890"/>
            <a:ext cx="395021" cy="395021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965960" y="4983480"/>
            <a:ext cx="1205179" cy="347472"/>
          </a:xfrm>
          <a:prstGeom prst="roundRect">
            <a:avLst>
              <a:gd name="adj" fmla="val 50000"/>
            </a:avLst>
          </a:prstGeom>
          <a:solidFill>
            <a:srgbClr val="F5B700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965960" y="4983480"/>
            <a:ext cx="12051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965960" y="539496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 aí, beleza? Como foi o fim de semana? Conta tudo!"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1965960" y="5852160"/>
            <a:ext cx="9357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Brazilian friend calls you on Monday. Talk for 1–2 minutes.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03243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003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DESAFIO ORAL · O QUE ACONTECEU? 1/3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Tell the story in the past (eu…). You can invent everything!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931920" cy="4251960"/>
          </a:xfrm>
          <a:prstGeom prst="roundRect">
            <a:avLst>
              <a:gd name="adj" fmla="val 27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569464"/>
            <a:ext cx="438912" cy="4389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3520440"/>
            <a:ext cx="1205179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14400" y="3520440"/>
            <a:ext cx="12051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977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sábado muito corrido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5257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had a VERY busy Saturday. You didn't stop all day!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011680"/>
            <a:ext cx="68881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acordou? Por que tão cedo?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foi primeiro?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comprou? Onde?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você encontrou?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o que você comeu?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voltou pra casa?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ficou no final do dia?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4754880" y="5349240"/>
            <a:ext cx="6888175" cy="91440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0" y="534924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úteis:  </a:t>
            </a:r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  ·  padaria  ·  academia  ·  shopping  ·  aniversário  ·  morto de cansaço  ·  correria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03243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003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DESAFIO ORAL · O QUE ACONTECEU? 2/3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Tell the story in the past (eu…). You can invent everything!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931920" cy="4251960"/>
          </a:xfrm>
          <a:prstGeom prst="roundRect">
            <a:avLst>
              <a:gd name="adj" fmla="val 27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569464"/>
            <a:ext cx="438912" cy="4389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3520440"/>
            <a:ext cx="1205179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14400" y="3520440"/>
            <a:ext cx="12051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977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primeiro dia no Brasil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5257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(or imagine) your first day in Brazil.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011680"/>
            <a:ext cx="68881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chegou? Em que cidade?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foi do aeroporto pro hotel?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falou português? O que você disse?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 pela primeira vez?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comprou no primeiro dia?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conheceu alguém?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que você gostou? E do que não gostou?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4754880" y="5349240"/>
            <a:ext cx="6888175" cy="91440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0" y="534924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úteis:  </a:t>
            </a:r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 um Uber  ·  chip de celular  ·  calor  ·  açaí  ·  pão de queijo  ·  fila  ·  não entendi nada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003243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003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DESAFIO ORAL · O QUE ACONTECEU? 3/3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aconteceu?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Tell the story in the past (eu…). You can invent everything!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931920" cy="4251960"/>
          </a:xfrm>
          <a:prstGeom prst="roundRect">
            <a:avLst>
              <a:gd name="adj" fmla="val 279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569464"/>
            <a:ext cx="438912" cy="4389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3520440"/>
            <a:ext cx="1205179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14400" y="3520440"/>
            <a:ext cx="12051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3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977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dia em que deu tudo errado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5257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9D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was a terrible day. Everything went wrong!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011680"/>
            <a:ext cx="68881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acordou? Perdeu a hora?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no caminho?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chegou atrasado? O que seu chefe disse?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esqueceu ou perdeu?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comeu? Estava bom?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pra resolver?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dia terminou?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4754880" y="5349240"/>
            <a:ext cx="6888175" cy="914400"/>
          </a:xfrm>
          <a:prstGeom prst="roundRect">
            <a:avLst>
              <a:gd name="adj" fmla="val 12000"/>
            </a:avLst>
          </a:prstGeom>
          <a:solidFill>
            <a:srgbClr val="FFF4D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029200" y="5349240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úteis:  </a:t>
            </a:r>
            <a:pPr indent="0" marL="0">
              <a:buNone/>
            </a:pPr>
            <a:r>
              <a:rPr lang="en-US" sz="16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 a hora  ·  perdi o ônibus  ·  esqueci  ·  choveu  ·  trânsito  ·  a bateria acabou  ·  que dia!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5133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51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REVISÃO FINAL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relâmpago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round: say the past (eu) as fast as you can!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48640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2431237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431237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431237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13834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313834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313834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196432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196432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196432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8079029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079029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8079029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9961626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961626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9961626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548640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48640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2431237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2431237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2431237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4313834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313834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2200" dirty="0"/>
          </a:p>
        </p:txBody>
      </p:sp>
      <p:sp>
        <p:nvSpPr>
          <p:cNvPr id="36" name="Text 32"/>
          <p:cNvSpPr txBox="1"/>
          <p:nvPr/>
        </p:nvSpPr>
        <p:spPr>
          <a:xfrm>
            <a:off x="4313834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6196432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196432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6196432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8079029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079029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</a:t>
            </a:r>
            <a:endParaRPr lang="en-US" sz="2200" dirty="0"/>
          </a:p>
        </p:txBody>
      </p:sp>
      <p:sp>
        <p:nvSpPr>
          <p:cNvPr id="42" name="Text 38"/>
          <p:cNvSpPr txBox="1"/>
          <p:nvPr/>
        </p:nvSpPr>
        <p:spPr>
          <a:xfrm>
            <a:off x="8079029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  <p:sp>
        <p:nvSpPr>
          <p:cNvPr id="43" name="Shape 39"/>
          <p:cNvSpPr/>
          <p:nvPr/>
        </p:nvSpPr>
        <p:spPr>
          <a:xfrm>
            <a:off x="9961626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961626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endParaRPr lang="en-US" sz="2200" dirty="0"/>
          </a:p>
        </p:txBody>
      </p:sp>
      <p:sp>
        <p:nvSpPr>
          <p:cNvPr id="45" name="Text 41"/>
          <p:cNvSpPr txBox="1"/>
          <p:nvPr/>
        </p:nvSpPr>
        <p:spPr>
          <a:xfrm>
            <a:off x="9961626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_____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5133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51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REVISÃO FINAL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65262" y="484632"/>
            <a:ext cx="2417674" cy="347472"/>
          </a:xfrm>
          <a:prstGeom prst="roundRect">
            <a:avLst>
              <a:gd name="adj" fmla="val 50000"/>
            </a:avLst>
          </a:prstGeom>
          <a:solidFill>
            <a:srgbClr val="1B7A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65262" y="484632"/>
            <a:ext cx="2417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RESPOSTAS ·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relâmpago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round: say the past (eu) as fast as you can!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48640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fui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2431237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431237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2431237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fiz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313834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313834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4313834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tive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196432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196432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196432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vi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79029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079029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8079029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vim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9961626" y="210312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961626" y="228600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9961626" y="297180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disse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548640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48640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saí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2431237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2431237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2431237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cheguei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4313834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313834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</a:t>
            </a:r>
            <a:endParaRPr lang="en-US" sz="2200" dirty="0"/>
          </a:p>
        </p:txBody>
      </p:sp>
      <p:sp>
        <p:nvSpPr>
          <p:cNvPr id="38" name="Text 34"/>
          <p:cNvSpPr txBox="1"/>
          <p:nvPr/>
        </p:nvSpPr>
        <p:spPr>
          <a:xfrm>
            <a:off x="4313834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fiquei</a:t>
            </a:r>
            <a:endParaRPr lang="en-US" sz="2200" dirty="0"/>
          </a:p>
        </p:txBody>
      </p:sp>
      <p:sp>
        <p:nvSpPr>
          <p:cNvPr id="39" name="Shape 35"/>
          <p:cNvSpPr/>
          <p:nvPr/>
        </p:nvSpPr>
        <p:spPr>
          <a:xfrm>
            <a:off x="6196432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196432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6196432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dei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8079029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8079029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</a:t>
            </a:r>
            <a:endParaRPr lang="en-US" sz="2200" dirty="0"/>
          </a:p>
        </p:txBody>
      </p:sp>
      <p:sp>
        <p:nvSpPr>
          <p:cNvPr id="44" name="Text 40"/>
          <p:cNvSpPr txBox="1"/>
          <p:nvPr/>
        </p:nvSpPr>
        <p:spPr>
          <a:xfrm>
            <a:off x="8079029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quis</a:t>
            </a:r>
            <a:endParaRPr lang="en-US" sz="2200" dirty="0"/>
          </a:p>
        </p:txBody>
      </p:sp>
      <p:sp>
        <p:nvSpPr>
          <p:cNvPr id="45" name="Shape 41"/>
          <p:cNvSpPr/>
          <p:nvPr/>
        </p:nvSpPr>
        <p:spPr>
          <a:xfrm>
            <a:off x="9961626" y="4023360"/>
            <a:ext cx="1681429" cy="1600200"/>
          </a:xfrm>
          <a:prstGeom prst="roundRect">
            <a:avLst>
              <a:gd name="adj" fmla="val 6857"/>
            </a:avLst>
          </a:prstGeom>
          <a:solidFill>
            <a:srgbClr val="F3F6F4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9961626" y="4206240"/>
            <a:ext cx="168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endParaRPr lang="en-US" sz="2200" dirty="0"/>
          </a:p>
        </p:txBody>
      </p:sp>
      <p:sp>
        <p:nvSpPr>
          <p:cNvPr id="47" name="Text 43"/>
          <p:cNvSpPr txBox="1"/>
          <p:nvPr/>
        </p:nvSpPr>
        <p:spPr>
          <a:xfrm>
            <a:off x="9961626" y="4892040"/>
            <a:ext cx="16814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estive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51330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51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REVISÃO FINAL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fechar: 3 · 2 · 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say it out loud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3515258" cy="3840480"/>
          </a:xfrm>
          <a:prstGeom prst="roundRect">
            <a:avLst>
              <a:gd name="adj" fmla="val 312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14400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88620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irregulares que eu usei hoje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0292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6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irregular verbs I used today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338218" y="2103120"/>
            <a:ext cx="3515258" cy="3840480"/>
          </a:xfrm>
          <a:prstGeom prst="roundRect">
            <a:avLst>
              <a:gd name="adj" fmla="val 3121"/>
            </a:avLst>
          </a:prstGeom>
          <a:solidFill>
            <a:srgbClr val="1B7A5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703978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  <p:sp>
        <p:nvSpPr>
          <p:cNvPr id="16" name="Text 12"/>
          <p:cNvSpPr txBox="1"/>
          <p:nvPr/>
        </p:nvSpPr>
        <p:spPr>
          <a:xfrm>
            <a:off x="4703978" y="388620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sobre algo que eu fiz hoje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703978" y="50292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6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sentences about something I did today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127797" y="2103120"/>
            <a:ext cx="3515258" cy="3840480"/>
          </a:xfrm>
          <a:prstGeom prst="roundRect">
            <a:avLst>
              <a:gd name="adj" fmla="val 3121"/>
            </a:avLst>
          </a:prstGeom>
          <a:solidFill>
            <a:srgbClr val="F5B70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493557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20" name="Text 16"/>
          <p:cNvSpPr txBox="1"/>
          <p:nvPr/>
        </p:nvSpPr>
        <p:spPr>
          <a:xfrm>
            <a:off x="8493557" y="388620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no passado para um amigo brasileiro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8493557" y="50292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question in the past for a Brazilian friend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604211" cy="34747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604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DE CASA · HOMEWORK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11535" y="365760"/>
            <a:ext cx="731520" cy="73152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1730" y="555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841248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próxima aula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— practice a little every 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4100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247619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22860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de WhatsApp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278892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min: "Meu fim de semana". Use 10+ verbos no passado (4 irregulares).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233008" y="2011680"/>
            <a:ext cx="54100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07328" y="2286000"/>
            <a:ext cx="731520" cy="731520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23" y="247619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67448" y="22860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diário · 3 dias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7467448" y="278892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noite, 3 frases sobre o seu dia. Ex.: Hoje eu acordei cedo e fui à academia.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4069080"/>
            <a:ext cx="54100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4343400"/>
            <a:ext cx="731520" cy="731520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4533595"/>
            <a:ext cx="351130" cy="35113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83080" y="43434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1783080" y="484632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 irregulares: frente fazer · verso eu fiz / você fez. 2 min por dia.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6233008" y="4069080"/>
            <a:ext cx="54100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07328" y="4343400"/>
            <a:ext cx="731520" cy="731520"/>
          </a:xfrm>
          <a:prstGeom prst="ellipse">
            <a:avLst/>
          </a:prstGeom>
          <a:solidFill>
            <a:srgbClr val="1B7A5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523" y="4533595"/>
            <a:ext cx="351130" cy="35113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467448" y="434340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real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7467448" y="4846320"/>
            <a:ext cx="394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a um brasileiro: "O que você fez no fim de semana?" Anote 2 verbos que ouvir.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3108960" cy="3108960"/>
          </a:xfrm>
          <a:prstGeom prst="ellipse">
            <a:avLst/>
          </a:prstGeom>
          <a:solidFill>
            <a:srgbClr val="353B4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965960"/>
            <a:ext cx="137160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professor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de compartilhar a tela antes desta parte. Os slides do aluno terminam no slide 42.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da aula e o que observar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completo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Respostas-modelo (produção livre)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 correções sugeridas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corrigir e como adaptar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reciclagem dos verbos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extras de follow-up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da aula e o que observar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exposição · 80% prática. Timing sugerido — ajuste ao ritmo do aluno.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005840"/>
                <a:gridCol w="356616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observar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Aquecimento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Ativar o que ele já sabe; diagnosticar automatização.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com o verbo ou só 'sim'? Usa a forma do EU ou repete a da pergunta?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Verbos (exposição)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com significado + manipulação imediata. Foco nos 11 irregulares.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 formas ele trava ou regulariza (fazi, dizei). Anote 3–4 para reciclar.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Vocabulário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(dentro dos 10')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Reconhecer significado e forma; EN↔PT.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Confusões de sentido: conheci × encontrei, vim × fui, ficar.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Prática controlada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Fixar forma e pistas de tempo com baixa pressão.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Velocidade. Se acerta mas demora, faça tudo oral e mais rápido.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Perguntas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E perguntar: forma você × eu.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sem ler? Reage? Faz follow-up?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Desafio oral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longa, narrativa, vários verbos seguidos.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verbos diferentes, conectores, se o passado se mantém quando ele foca no conteúdo.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Revisão + casa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39–42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Consolidar e dar 3 correções finais.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3 erros na correção final.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completo (1/2)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e prática controlada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45738" cy="2011680"/>
          </a:xfrm>
          <a:prstGeom prst="roundRect">
            <a:avLst>
              <a:gd name="adj" fmla="val 5455"/>
            </a:avLst>
          </a:prstGeom>
          <a:solidFill>
            <a:srgbClr val="353B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rápido · slide 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0885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fiz café.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B) fiz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3545738" cy="2148840"/>
          </a:xfrm>
          <a:prstGeom prst="roundRect">
            <a:avLst>
              <a:gd name="adj" fmla="val 5106"/>
            </a:avLst>
          </a:prstGeom>
          <a:solidFill>
            <a:srgbClr val="353B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25196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diz? · slide 13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17720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ir / fui · 2 ter / tive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 / vi · 4 vir / vim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dizer / disse · 6 ficar / fiquei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chegar / cheguei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conhecer / conheci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22978" y="1965960"/>
            <a:ext cx="3545738" cy="2011680"/>
          </a:xfrm>
          <a:prstGeom prst="roundRect">
            <a:avLst>
              <a:gd name="adj" fmla="val 5455"/>
            </a:avLst>
          </a:prstGeom>
          <a:solidFill>
            <a:srgbClr val="353B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1578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· slide 15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51578" y="2468880"/>
            <a:ext cx="30885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fazer → C fiz · 2 sair → F saí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dar → H dei · 4 querer → B quis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dormir → A dormi · 6 estar → E estive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comer → G comi · 8 voltar → D voltei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2978" y="4114800"/>
            <a:ext cx="3545738" cy="2148840"/>
          </a:xfrm>
          <a:prstGeom prst="roundRect">
            <a:avLst>
              <a:gd name="adj" fmla="val 5106"/>
            </a:avLst>
          </a:prstGeom>
          <a:solidFill>
            <a:srgbClr val="353B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51578" y="425196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· slide 19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617720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B) fui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A) viu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B) acordo / acordei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A) pude / tive  (natural: não consegui)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7317" y="1965960"/>
            <a:ext cx="3545738" cy="2011680"/>
          </a:xfrm>
          <a:prstGeom prst="roundRect">
            <a:avLst>
              <a:gd name="adj" fmla="val 5455"/>
            </a:avLst>
          </a:prstGeom>
          <a:solidFill>
            <a:srgbClr val="353B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5917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slide 21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2468880"/>
            <a:ext cx="30885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fui · comprei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tive · 3 saí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cheguei · 5 disse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fiquei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4114800"/>
            <a:ext cx="3545738" cy="2148840"/>
          </a:xfrm>
          <a:prstGeom prst="roundRect">
            <a:avLst>
              <a:gd name="adj" fmla="val 5106"/>
            </a:avLst>
          </a:prstGeom>
          <a:solidFill>
            <a:srgbClr val="353B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5917" y="425196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→ passado · slide 23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5917" y="4617720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→ acordei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 → fiz · como → comi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 → fui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 → vi · durmo → dormi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completo (2/2)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Tradução, erros, PT → EN e respostas-modelo para a produção livre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353B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497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→ EN · slide 17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 met Ana (1st time) at the party.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 ran into / met up with Ana at the mall.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 got tired after work.  4 I left work at 6.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 came to Brazil in 2024.  6 The show was amazing! (foi = ser)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432908" cy="2011680"/>
          </a:xfrm>
          <a:prstGeom prst="roundRect">
            <a:avLst>
              <a:gd name="adj" fmla="val 5455"/>
            </a:avLst>
          </a:prstGeom>
          <a:solidFill>
            <a:srgbClr val="353B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389120"/>
            <a:ext cx="497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→ PT · slide 25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54880"/>
            <a:ext cx="49757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Eu fui à padaria (na padaria) e comprei pão.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Eu tive uma reunião de manhã.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Eu conheci um brasileiro na festa.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Eu fiquei em casa e assisti (a) uma série / vi uma série.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 que você fez no fim de semana?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0148" y="19659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353B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8748" y="2103120"/>
            <a:ext cx="497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o erro · slide 27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2468880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fazi → fiz · 2 trabalhou → trabalhei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vou → fui · 4 chegei → cheguei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dormei → dormi · 6 comprou → comprei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0148" y="4251960"/>
            <a:ext cx="5432908" cy="2011680"/>
          </a:xfrm>
          <a:prstGeom prst="roundRect">
            <a:avLst>
              <a:gd name="adj" fmla="val 5455"/>
            </a:avLst>
          </a:prstGeom>
          <a:solidFill>
            <a:srgbClr val="353B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38748" y="4389120"/>
            <a:ext cx="4975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frases (modelos) · slide 29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4754880"/>
            <a:ext cx="49757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sábado eu fui ao shopping e comprei um tênis.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de manhã eu acordei cedo e fiz café.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à noite eu saí e encontrei uns amigos.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eu cheguei tarde e fiquei muito cansado.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passada eu vi um filme e gostei muito.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eu vim pro Brasil, conheci muita gente.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mais prováveis e correções sugeridas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os erros 1–4: são frequentes e afetam a comunicação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5422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aluno diz…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correta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acontece / como corrigir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Você comeu? — Sim, comeu.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comi.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 a forma da pergunta. Erro nº 1: corrija SEMPRE, na hora (gesto 'eu').  Slides 5,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foi · eu comeu · eu fez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fui · eu comi · eu fiz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3ª pessoa no lugar do eu. Recast: "Ah, você FOI…" e peça para repetir a frase.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fazi · dizei · teni · vei · podei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fiz · disse · tive · vim · pude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 o irregular. Volte aos slides 8–9; recicle na rodada relâmpago.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Ontem eu vou ao mercado.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Ontem eu fui…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Ignora a pista de tempo. Aponte a palavra 'ontem' (slide de revisão todo dia × ontem).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chegei · ficei · sai (= saí)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cheguei · fiquei · saí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Ortografia gu/qu e acento. Na fala, marque o -EI e o sa-Í.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fui para o Brasil (estando aqui)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vim para o Brasil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Direção: vim = para cá; fui = para lá. Gesto aqui × lá.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Encontrei minha esposa em 2015.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 minha esposa…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conhecer = primeira vez; encontrar = rever / achar.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Ontem eu estive cansado.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Fiquei cansado / estava cansado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'estive' soa estranho aqui. Só reformule; não entre no imperfeito agora.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corrigir e como adaptar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controlada, corrija na hora. Na conversa, priorize a fluência.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sem interromper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Recast: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certo, como reação natural. Aluno: "Eu fazi uma pizza." → "Ah, você FEZ uma pizza! De quê?"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Autocorreção: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só o começo — "Ontem eu…?" — ou repita o erro com tom de dúvida: "Fazi?"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polegar para trás = 'passado!'. Combine no início.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adiada: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etapas 5 e 6, anote e corrija no fim. Máximo 3 erros.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na hora o 'Sim, comeu' e erros que impedem a compreensão.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978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1578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aluno tiver dificuldade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para 15 verbos: os 11 irregulares + acordar, comer, trabalhar, sair.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perguntas de sim/não e aceite respostas curtas (Sim, fui.).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banco de verbos visível (volte aos slides 8–11).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ontem: 1 min de preparação com palavras-chave; meta de 5 verbos.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só o Cenário 1, em formato de entrevista (pergunta por pergunta).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a transformação frase por frase.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5917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aluno estiver avançando rápido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5917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Esconda o banco de verbos depois de 1 minuto.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2 verbos + 1 detalhe em cada resposta.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ele/ela, a gente (a gente foi) e eles (eles foram, fizeram).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em 3ª pessoa ("O que aconteceu com o Pedro?") ou com perguntas surpresa.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fim de semana em 90 s com 12 verbos diferentes.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Teaser: Eu fui à praia × Eu ia à praia todo sábado — sem explicar ainda.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Verbos-chave e mapa de reciclagem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verbo de alta frequência aparece em 3+ atividades — números = slides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90472"/>
                <a:gridCol w="1490472"/>
                <a:gridCol w="1490472"/>
                <a:gridCol w="1490472"/>
                <a:gridCol w="1490472"/>
                <a:gridCol w="15361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62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 → fiz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· Meu ontem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→ fui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Múlt. escolha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27 · 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 → 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Múlt. escolha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→ 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Múlt. escolha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 → vim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PT→EN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 → saí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PT→EN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chegar → cheguei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ficar → fiquei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PT→EN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conhecer → conheci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PT→EN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dizer → disse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se diz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Relâmpago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→ comprei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7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acordar / dormir / comer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Múlt. escolha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Meu ontem 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B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6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57093" cy="34747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570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ONLY · NÃO COMPARTILHAR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extras de follow-up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a conversa esfriar, ou para desafiar um aluno mais rápido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"Meu ontem"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horas você dormiu?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falou português com alguém ontem? Com quem?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pediu comida ou cozinhou?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usou o celular muito tempo?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que não faz todo dia?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pudesse repetir o dia, o que mudaria?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2978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1578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de semana e vida no Brasil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o último lugar novo que você conheceu?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última coisa que você comprou online?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foi a um churrasco? Como foi?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a comida mais estranha que você já comeu aqui?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se perdeu numa cidade brasileira?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 no último feriado?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7317" y="19659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353B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5917" y="210312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Reações para modelar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5917" y="2468880"/>
            <a:ext cx="308853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Sério? · Que legal! · Que chato!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Nossa! · Que delícia! · Imagina!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aí? O que aconteceu depois?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você gostou?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quem você foi?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peça que o aluno use 2 reações por conversa — deixa o diálogo natural.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você fez ontem? — Verbos do dia a dia no passado</dc:title>
  <dc:subject>PptxGenJS Presentation</dc:subject>
  <dc:creator>PptxGenJS</dc:creator>
  <cp:lastModifiedBy>PptxGenJS</cp:lastModifiedBy>
  <cp:revision>1</cp:revision>
  <dcterms:created xsi:type="dcterms:W3CDTF">2026-09-25T11:26:40Z</dcterms:created>
  <dcterms:modified xsi:type="dcterms:W3CDTF">2026-09-25T11:26:40Z</dcterms:modified>
</cp:coreProperties>
</file>